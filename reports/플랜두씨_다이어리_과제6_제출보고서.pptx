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7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65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821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8654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lan-do-see-diary.vercel.app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plan-do-see-diary.vercel.app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tulss/plan-do-see-diar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7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7863840" y="-914400"/>
            <a:ext cx="5120640" cy="5120640"/>
          </a:xfrm>
          <a:prstGeom prst="arc">
            <a:avLst/>
          </a:prstGeom>
          <a:solidFill>
            <a:srgbClr val="146B58">
              <a:alpha val="90000"/>
            </a:srgbClr>
          </a:solidFill>
          <a:ln w="12700">
            <a:solidFill>
              <a:srgbClr val="146B5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389120"/>
            <a:ext cx="2651760" cy="2651760"/>
          </a:xfrm>
          <a:prstGeom prst="ellipse">
            <a:avLst/>
          </a:prstGeom>
          <a:solidFill>
            <a:srgbClr val="C58B2A">
              <a:alpha val="97000"/>
            </a:srgbClr>
          </a:solidFill>
          <a:ln w="12700">
            <a:solidFill>
              <a:srgbClr val="C58B2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766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kern="0" spc="230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ASSIGNMENT 06 · FINAL REPORT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170432"/>
            <a:ext cx="67665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플랜두씨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다이어리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13232" y="2980944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→ 실행 → 돌아보기를</a:t>
            </a:r>
            <a:endParaRPr lang="en-US" sz="2100" dirty="0"/>
          </a:p>
          <a:p>
            <a:pPr marL="0" indent="0">
              <a:buNone/>
            </a:pPr>
            <a:r>
              <a:rPr lang="en-US" sz="210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남는 하나의 흐름으로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731520" y="4187952"/>
            <a:ext cx="1353312" cy="310896"/>
          </a:xfrm>
          <a:prstGeom prst="roundRect">
            <a:avLst/>
          </a:prstGeom>
          <a:solidFill>
            <a:srgbClr val="284D43"/>
          </a:solidFill>
          <a:ln w="12700">
            <a:solidFill>
              <a:srgbClr val="3E6B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01668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P0–P7 완료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12848" y="4187952"/>
            <a:ext cx="1353312" cy="310896"/>
          </a:xfrm>
          <a:prstGeom prst="roundRect">
            <a:avLst/>
          </a:prstGeom>
          <a:solidFill>
            <a:srgbClr val="284D43"/>
          </a:solidFill>
          <a:ln w="12700">
            <a:solidFill>
              <a:srgbClr val="3E6B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12848" y="4201668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배포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94176" y="4187952"/>
            <a:ext cx="1188720" cy="310896"/>
          </a:xfrm>
          <a:prstGeom prst="roundRect">
            <a:avLst/>
          </a:prstGeom>
          <a:solidFill>
            <a:srgbClr val="284D43"/>
          </a:solidFill>
          <a:ln w="12700">
            <a:solidFill>
              <a:srgbClr val="3E6B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94176" y="42016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7장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49834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31520" y="52120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b="1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plan-do-see-</a:t>
            </a:r>
            <a:r>
              <a:rPr lang="en-US" sz="1500" b="1" u="sng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diary.vercel.app</a:t>
            </a:r>
            <a:endParaRPr lang="en-US" sz="1500" b="1" u="sng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61722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AC6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  ·  stuls</a:t>
            </a:r>
            <a:endParaRPr lang="en-US" sz="105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A9EB7D-CBFA-45D3-A47F-0E138F510846}"/>
              </a:ext>
            </a:extLst>
          </p:cNvPr>
          <p:cNvSpPr txBox="1"/>
          <p:nvPr/>
        </p:nvSpPr>
        <p:spPr>
          <a:xfrm>
            <a:off x="731520" y="5556873"/>
            <a:ext cx="6766559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>
              <a:defRPr sz="1500" b="1" u="sng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defRPr>
            </a:lvl1pPr>
          </a:lstStyle>
          <a:p>
            <a:r>
              <a:rPr lang="en-US" altLang="ko-KR" i="0" dirty="0">
                <a:solidFill>
                  <a:schemeClr val="bg1"/>
                </a:solidFill>
                <a:effectLst/>
                <a:latin typeface="ui-monospace"/>
              </a:rPr>
              <a:t>https://github.com/stulss/plan-do-see-diary/commits/356a46034e94084caec3e17eaaf2ab8d98cef7ce/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COMPLETION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P0부터 P7까지, 제출 가능한 상태로 완료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구현·실제 자료·검증·증거·공개 배포를 한 흐름으로 마무리했다.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85216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프로젝트·DB 연결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432304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47288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11880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11880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6개·트리거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294376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09360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3952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73952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73952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API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56448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171432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36024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36024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336024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플래너·관리 화면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018520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5216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49808" y="352958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P4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49808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실행·돌아보기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2432304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447288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611880" y="352958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11880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P5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11880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실제 자료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5294376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309360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73952" y="352958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73952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P6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473952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보안·내보내기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8156448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171432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336024" y="3529584"/>
            <a:ext cx="530352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36024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P7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9336024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배포·제출 문서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11018520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85216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85216" y="507492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86384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500" dirty="0"/>
          </a:p>
        </p:txBody>
      </p:sp>
      <p:sp>
        <p:nvSpPr>
          <p:cNvPr id="49" name="Text 47"/>
          <p:cNvSpPr/>
          <p:nvPr/>
        </p:nvSpPr>
        <p:spPr>
          <a:xfrm>
            <a:off x="786384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화면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834640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2834640" y="5074920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35808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500" dirty="0"/>
          </a:p>
        </p:txBody>
      </p:sp>
      <p:sp>
        <p:nvSpPr>
          <p:cNvPr id="53" name="Text 51"/>
          <p:cNvSpPr/>
          <p:nvPr/>
        </p:nvSpPr>
        <p:spPr>
          <a:xfrm>
            <a:off x="3035808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경로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84064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5084064" y="5074920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85232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500" dirty="0"/>
          </a:p>
        </p:txBody>
      </p:sp>
      <p:sp>
        <p:nvSpPr>
          <p:cNvPr id="57" name="Text 55"/>
          <p:cNvSpPr/>
          <p:nvPr/>
        </p:nvSpPr>
        <p:spPr>
          <a:xfrm>
            <a:off x="5285232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표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7333488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7333488" y="507492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34656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2500" dirty="0"/>
          </a:p>
        </p:txBody>
      </p:sp>
      <p:sp>
        <p:nvSpPr>
          <p:cNvPr id="61" name="Text 59"/>
          <p:cNvSpPr/>
          <p:nvPr/>
        </p:nvSpPr>
        <p:spPr>
          <a:xfrm>
            <a:off x="7534656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9582912" y="507492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9582912" y="5074920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84080" y="5193792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500" dirty="0"/>
          </a:p>
        </p:txBody>
      </p:sp>
      <p:sp>
        <p:nvSpPr>
          <p:cNvPr id="65" name="Text 63"/>
          <p:cNvSpPr/>
          <p:nvPr/>
        </p:nvSpPr>
        <p:spPr>
          <a:xfrm>
            <a:off x="9784080" y="5650992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화면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 DB 비밀값을 내보내지 않는 단일 서버 구조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화면과 API를 한 프로젝트에 두고 서버만 Supabase PostgreSQL에 연결한다.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E8F4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2194560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일·주·월 플래너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FFF4D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44568" y="2194560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572000" y="26517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Router 화면 6개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API 경로 8개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01000" y="196596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E8F4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02168" y="2194560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229600" y="26517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 PostgreSQL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6개 + 트리거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66160" y="2468880"/>
            <a:ext cx="566928" cy="502920"/>
          </a:xfrm>
          <a:prstGeom prst="chevron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2468880"/>
            <a:ext cx="566928" cy="502920"/>
          </a:xfrm>
          <a:prstGeom prst="chevron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7872" y="3063240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095744" y="30632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SQL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5800" y="4041648"/>
            <a:ext cx="1005840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42793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03120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03120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456432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plan_revision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9744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9744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63056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63056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516368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16368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869680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69680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14400" y="4754880"/>
            <a:ext cx="9052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DATABASE_URL / POSTGRES_URL은 서버 전용 · NEXT_PUBLIC_* 사용 금지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0927080" y="2148840"/>
            <a:ext cx="713232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927080" y="216255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927080" y="2551176"/>
            <a:ext cx="713232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27080" y="256489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PLANNER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실제 자료를 일간·주간·월간으로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날짜를 기준으로 계획과 할 일, 예상·실제 시간을 보고 바로 추가한다.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" y="1719072"/>
            <a:ext cx="3657600" cy="4526280"/>
          </a:xfrm>
          <a:prstGeom prst="roundRect">
            <a:avLst>
              <a:gd name="adj" fmla="val 2000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591616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C34·C35·C78~C82  실제 자료와 공개 안내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617720" y="1755648"/>
            <a:ext cx="68122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28032" y="1929384"/>
            <a:ext cx="77724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28032" y="19431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833872" y="189280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일간 집중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296912" y="189280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할 일과 예상·실제 시간을 빠르게 확인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617720" y="2999232"/>
            <a:ext cx="6812280" cy="987552"/>
          </a:xfrm>
          <a:prstGeom prst="roundRect">
            <a:avLst>
              <a:gd name="adj" fmla="val 7407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828032" y="3172968"/>
            <a:ext cx="777240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28032" y="31866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833872" y="31363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7열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296912" y="313639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월요일부터 일요일까지 균일한 날짜 흐름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617720" y="4242816"/>
            <a:ext cx="68122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828032" y="4416552"/>
            <a:ext cx="77724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28032" y="44302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MONTH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833872" y="43799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6주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296912" y="437997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앞뒤 날짜를 포함해 일정 밀도를 한눈에 파악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17720" y="5596128"/>
            <a:ext cx="6812280" cy="658368"/>
          </a:xfrm>
          <a:prstGeom prst="roundRect">
            <a:avLst>
              <a:gd name="adj" fmla="val 11111"/>
            </a:avLst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4892040" y="5742432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플래너 안에서 새 계획·새 할 일을 바로 추가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159BFCAC-6D63-4545-9332-8455B1A827A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711700"/>
            <a:ext cx="3511296" cy="221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&amp; DO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계획의 기준은 보존하고, 실행은 별도로 기록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이력·완료 멱등성·실행 기록 분리를 화면과 DB에서 함께 확인했다.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700784"/>
            <a:ext cx="3584448" cy="4526280"/>
          </a:xfrm>
          <a:prstGeom prst="roundRect">
            <a:avLst>
              <a:gd name="adj" fmla="val 204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89788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C04~C08  계획과 수정 이력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97680" y="1700784"/>
            <a:ext cx="3584448" cy="4526280"/>
          </a:xfrm>
          <a:prstGeom prst="roundRect">
            <a:avLst>
              <a:gd name="adj" fmla="val 204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389120" y="589788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C09~C22  할 일·정렬·완료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092440" y="1700784"/>
            <a:ext cx="3584448" cy="4526280"/>
          </a:xfrm>
          <a:prstGeom prst="roundRect">
            <a:avLst>
              <a:gd name="adj" fmla="val 204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183880" y="589788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C23~C27  실제 실행 기록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72D5548-4A31-4620-ADDB-FB8001AF82C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832354"/>
            <a:ext cx="3438144" cy="193395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275882A-5956-4D12-9C26-D6841AD73D9F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2764279"/>
            <a:ext cx="3438144" cy="2070106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E81BEB6F-B0DE-48CC-9B6C-03AB27991684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8165592" y="2670430"/>
            <a:ext cx="3438144" cy="22578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숫자를 누르면 같은 조건의 근거 목록으로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숫자와 목록이 하나의 조건 생성 함수를 공유해 서로 어긋나지 않는다.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" y="1719072"/>
            <a:ext cx="3703320" cy="4526280"/>
          </a:xfrm>
          <a:prstGeom prst="roundRect">
            <a:avLst>
              <a:gd name="adj" fmla="val 1975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591616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C28~C33·C83  돌아보기 집계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26280" y="1719072"/>
            <a:ext cx="3703320" cy="4526280"/>
          </a:xfrm>
          <a:prstGeom prst="roundRect">
            <a:avLst>
              <a:gd name="adj" fmla="val 1975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617720" y="591616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C83  완료 1 ↔ 근거 목록 1건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549640" y="182880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49640" y="182880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750808" y="194767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500" dirty="0"/>
          </a:p>
        </p:txBody>
      </p:sp>
      <p:sp>
        <p:nvSpPr>
          <p:cNvPr id="15" name="Text 11"/>
          <p:cNvSpPr/>
          <p:nvPr/>
        </p:nvSpPr>
        <p:spPr>
          <a:xfrm>
            <a:off x="8750808" y="2404872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안 할 일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10040112" y="182880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10040112" y="1828800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241280" y="194767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500" dirty="0"/>
          </a:p>
        </p:txBody>
      </p:sp>
      <p:sp>
        <p:nvSpPr>
          <p:cNvPr id="19" name="Text 15"/>
          <p:cNvSpPr/>
          <p:nvPr/>
        </p:nvSpPr>
        <p:spPr>
          <a:xfrm>
            <a:off x="10241280" y="2404872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중 완료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8549640" y="2999232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549640" y="2999232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50808" y="3118104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500" dirty="0"/>
          </a:p>
        </p:txBody>
      </p:sp>
      <p:sp>
        <p:nvSpPr>
          <p:cNvPr id="23" name="Text 19"/>
          <p:cNvSpPr/>
          <p:nvPr/>
        </p:nvSpPr>
        <p:spPr>
          <a:xfrm>
            <a:off x="8750808" y="3575304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10040112" y="2999232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10040112" y="299923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0241280" y="3118104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500" dirty="0"/>
          </a:p>
        </p:txBody>
      </p:sp>
      <p:sp>
        <p:nvSpPr>
          <p:cNvPr id="27" name="Text 23"/>
          <p:cNvSpPr/>
          <p:nvPr/>
        </p:nvSpPr>
        <p:spPr>
          <a:xfrm>
            <a:off x="10241280" y="3575304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막힘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8549640" y="4251960"/>
            <a:ext cx="2816352" cy="1417320"/>
          </a:xfrm>
          <a:prstGeom prst="roundRect">
            <a:avLst>
              <a:gd name="adj" fmla="val 5161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8796528" y="44988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200분 예상</a:t>
            </a:r>
            <a:endParaRPr lang="en-US" sz="1800" dirty="0"/>
          </a:p>
        </p:txBody>
      </p:sp>
      <p:sp>
        <p:nvSpPr>
          <p:cNvPr id="30" name="Text 26"/>
          <p:cNvSpPr/>
          <p:nvPr/>
        </p:nvSpPr>
        <p:spPr>
          <a:xfrm>
            <a:off x="8796528" y="4892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38분 실제</a:t>
            </a:r>
            <a:endParaRPr lang="en-US" sz="1800" dirty="0"/>
          </a:p>
        </p:txBody>
      </p:sp>
      <p:sp>
        <p:nvSpPr>
          <p:cNvPr id="31" name="Text 27"/>
          <p:cNvSpPr/>
          <p:nvPr/>
        </p:nvSpPr>
        <p:spPr>
          <a:xfrm>
            <a:off x="8796528" y="52852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 −162분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D7AE577-8C18-4848-A941-606806092CF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17209"/>
            <a:ext cx="3557016" cy="2000821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4A2C0FD1-7F2A-4191-9C90-A194E5262F7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599432" y="2817209"/>
            <a:ext cx="3557016" cy="20008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RULES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실수하기 쉬운 규칙을 UI가 아니라 데이터 구조로 고정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코드보다 데이터가 틀어지지 않는 경계를 먼저 만들었다.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" y="176479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19476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81328" y="191109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시간은 전 구간 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47288" y="19110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저장·계산·표시 단위를 하나로 통일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281928" y="176479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83096" y="19476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04888" y="191109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날짜와 UTC 시각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70848" y="19110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date와 timestamptz의 역할 분리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658368" y="318211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59536" y="336499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481328" y="332841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소프트 삭제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47288" y="33284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deleted_at IS NULL만 목록·집계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281928" y="318211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83096" y="336499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104888" y="332841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완료는 DB 기본키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70848" y="33284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연타해도 task_completion 한 행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658368" y="459943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9536" y="478231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481328" y="474573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이력은 트리거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47288" y="474573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경로와 무관하게 OLD 값 보존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6281928" y="459943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83096" y="478231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104888" y="474573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실행은 별도 표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070848" y="474573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run_log가 예상 시간을 덮지 않음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검사와 실제 화면 검증을 모두 통과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검증용 데이터는 증거를 남긴 뒤 원래 상태로 복원했다.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584301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C57  스크립트 문자가 텍스트로 표시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26280" y="181051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81051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27448" y="192938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9/9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4727448" y="238658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 통과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720840" y="181051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20840" y="1810512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22008" y="192938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22008" y="238658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15400" y="181051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915400" y="181051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16568" y="192938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2500" dirty="0"/>
          </a:p>
        </p:txBody>
      </p:sp>
      <p:sp>
        <p:nvSpPr>
          <p:cNvPr id="20" name="Text 17"/>
          <p:cNvSpPr/>
          <p:nvPr/>
        </p:nvSpPr>
        <p:spPr>
          <a:xfrm>
            <a:off x="9116568" y="238658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Production build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26280" y="29992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26280" y="2999232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27448" y="311810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2500" dirty="0"/>
          </a:p>
        </p:txBody>
      </p:sp>
      <p:sp>
        <p:nvSpPr>
          <p:cNvPr id="24" name="Text 21"/>
          <p:cNvSpPr/>
          <p:nvPr/>
        </p:nvSpPr>
        <p:spPr>
          <a:xfrm>
            <a:off x="4727448" y="357530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npm audit 취약점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720840" y="29992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20840" y="299923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922008" y="311810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2500" dirty="0"/>
          </a:p>
        </p:txBody>
      </p:sp>
      <p:sp>
        <p:nvSpPr>
          <p:cNvPr id="28" name="Text 25"/>
          <p:cNvSpPr/>
          <p:nvPr/>
        </p:nvSpPr>
        <p:spPr>
          <a:xfrm>
            <a:off x="6922008" y="357530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비밀값 노출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915400" y="29992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915400" y="2999232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16568" y="311810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</a:t>
            </a:r>
            <a:endParaRPr lang="en-US" sz="2500" dirty="0"/>
          </a:p>
        </p:txBody>
      </p:sp>
      <p:sp>
        <p:nvSpPr>
          <p:cNvPr id="32" name="Text 29"/>
          <p:cNvSpPr/>
          <p:nvPr/>
        </p:nvSpPr>
        <p:spPr>
          <a:xfrm>
            <a:off x="9116568" y="357530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URL 상태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26280" y="4251960"/>
            <a:ext cx="6400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773168" y="448970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해결한 문제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4773168" y="4828032"/>
            <a:ext cx="5852160" cy="7680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보안 취약점 → 16.3.3으로 업그레이드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내보내기 30초 지연 → 순차 조회로 약 0.4초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prepared statement 간헐 오류 → prepare: false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3C1BC4AA-B019-441F-B53E-F5CFB080800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617922"/>
            <a:ext cx="3419856" cy="234453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&amp; JUDGMENT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만든 것과 사용자가 판단한 것을 분리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과제의 실제 자료와 제품 방향은 사용자가 결정했다.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456432" cy="3566160"/>
          </a:xfrm>
          <a:prstGeom prst="roundRect">
            <a:avLst>
              <a:gd name="adj" fmla="val 2116"/>
            </a:avLst>
          </a:prstGeom>
          <a:solidFill>
            <a:srgbClr val="EAF5F0"/>
          </a:solidFill>
          <a:ln w="12700">
            <a:solidFill>
              <a:srgbClr val="EAF5F0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157984"/>
            <a:ext cx="640080" cy="310896"/>
          </a:xfrm>
          <a:prstGeom prst="round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1717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2761488"/>
            <a:ext cx="2907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96112" y="3675888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분석, DB·API·플래너 구현, 자동 검사와 문서 정리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62272" y="1874520"/>
            <a:ext cx="3456432" cy="3566160"/>
          </a:xfrm>
          <a:prstGeom prst="roundRect">
            <a:avLst>
              <a:gd name="adj" fmla="val 2116"/>
            </a:avLst>
          </a:prstGeom>
          <a:solidFill>
            <a:srgbClr val="FFF7E8"/>
          </a:solidFill>
          <a:ln w="12700">
            <a:solidFill>
              <a:srgbClr val="FFF7E8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2157984"/>
            <a:ext cx="640080" cy="310896"/>
          </a:xfrm>
          <a:prstGeom prst="round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21717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18304" y="2761488"/>
            <a:ext cx="2907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직접 판단한 일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18304" y="3675888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Supabase 연결과 실제 계획·할 일·실행 기록의 내용 결정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84464" y="1874520"/>
            <a:ext cx="3456432" cy="3566160"/>
          </a:xfrm>
          <a:prstGeom prst="roundRect">
            <a:avLst>
              <a:gd name="adj" fmla="val 2116"/>
            </a:avLst>
          </a:prstGeom>
          <a:solidFill>
            <a:srgbClr val="FBEFEB"/>
          </a:solidFill>
          <a:ln w="12700">
            <a:solidFill>
              <a:srgbClr val="FBEFEB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40496" y="2157984"/>
            <a:ext cx="640080" cy="310896"/>
          </a:xfrm>
          <a:prstGeom prst="round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0496" y="21717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40496" y="2761488"/>
            <a:ext cx="2907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제안을 따르지 않은 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540496" y="3675888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입력 화면만 쓰지 않고 플래너에서도 바로 추가하도록 방향 수정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57972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실제 자료를 직접 입력하고 공개 범위를 승인했다.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1 — 계획 세우기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계획의 필수 값과 수정 전 이력을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C04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기간 저장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plan.start_date · end_date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734056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75691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C05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734056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75691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저장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734056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7569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plan.priority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734056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75691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3346704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3369564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C06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3346704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3369564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기준 저장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3346704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33695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plan.success_criteria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3346704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3369564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959352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982212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C07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959352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982212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시간 저장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959352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98221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plan.estimate_minutes · 분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959352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982212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572000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459486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C08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4572000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4594860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전 계획 보존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4572000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45948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트리거 · 수정 이력 화면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4572000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459486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2 — 할 일 다루기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만들기부터 검색·정렬과 완료 되돌리기까지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C09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만들기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/api/tasks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47954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50240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C10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47954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50240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고치기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47954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50240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PATCH /api/tasks/[id]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47954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50240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283768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286054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C11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283768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286054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완료로 바꾸기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283768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286054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INSERT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283768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286054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19582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21868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C12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19582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21868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되돌리기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19582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21868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DELETE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19582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21868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355396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357682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C13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355396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357682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지우기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355396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357682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deleted_at 소프트 삭제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355396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357682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391210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393496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C14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391210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393496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마감일 저장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391210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393496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날짜 date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391210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393496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427024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429310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C15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427024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429310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저장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427024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429310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task.priority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427024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429310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462838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465124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C16</a:t>
            </a:r>
            <a:endParaRPr lang="en-US" sz="920" dirty="0"/>
          </a:p>
        </p:txBody>
      </p:sp>
      <p:sp>
        <p:nvSpPr>
          <p:cNvPr id="72" name="Shape 70"/>
          <p:cNvSpPr/>
          <p:nvPr/>
        </p:nvSpPr>
        <p:spPr>
          <a:xfrm>
            <a:off x="1664208" y="462838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465124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 저장</a:t>
            </a:r>
            <a:endParaRPr lang="en-US" sz="960" dirty="0"/>
          </a:p>
        </p:txBody>
      </p:sp>
      <p:sp>
        <p:nvSpPr>
          <p:cNvPr id="74" name="Shape 72"/>
          <p:cNvSpPr/>
          <p:nvPr/>
        </p:nvSpPr>
        <p:spPr>
          <a:xfrm>
            <a:off x="6327648" y="462838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382512" y="465124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task.tags</a:t>
            </a:r>
            <a:endParaRPr lang="en-US" sz="960" dirty="0"/>
          </a:p>
        </p:txBody>
      </p:sp>
      <p:sp>
        <p:nvSpPr>
          <p:cNvPr id="76" name="Shape 74"/>
          <p:cNvSpPr/>
          <p:nvPr/>
        </p:nvSpPr>
        <p:spPr>
          <a:xfrm>
            <a:off x="10643616" y="462838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698480" y="465124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66928" y="498652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1792" y="500938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C17</a:t>
            </a:r>
            <a:endParaRPr lang="en-US" sz="920" dirty="0"/>
          </a:p>
        </p:txBody>
      </p:sp>
      <p:sp>
        <p:nvSpPr>
          <p:cNvPr id="80" name="Shape 78"/>
          <p:cNvSpPr/>
          <p:nvPr/>
        </p:nvSpPr>
        <p:spPr>
          <a:xfrm>
            <a:off x="1664208" y="498652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719072" y="500938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시간 저장</a:t>
            </a:r>
            <a:endParaRPr lang="en-US" sz="960" dirty="0"/>
          </a:p>
        </p:txBody>
      </p:sp>
      <p:sp>
        <p:nvSpPr>
          <p:cNvPr id="82" name="Shape 80"/>
          <p:cNvSpPr/>
          <p:nvPr/>
        </p:nvSpPr>
        <p:spPr>
          <a:xfrm>
            <a:off x="6327648" y="498652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382512" y="500938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estimate_minutes · 분</a:t>
            </a:r>
            <a:endParaRPr lang="en-US" sz="960" dirty="0"/>
          </a:p>
        </p:txBody>
      </p:sp>
      <p:sp>
        <p:nvSpPr>
          <p:cNvPr id="84" name="Shape 82"/>
          <p:cNvSpPr/>
          <p:nvPr/>
        </p:nvSpPr>
        <p:spPr>
          <a:xfrm>
            <a:off x="10643616" y="498652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698480" y="500938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566928" y="534466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1792" y="536752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C18</a:t>
            </a:r>
            <a:endParaRPr lang="en-US" sz="920" dirty="0"/>
          </a:p>
        </p:txBody>
      </p:sp>
      <p:sp>
        <p:nvSpPr>
          <p:cNvPr id="88" name="Shape 86"/>
          <p:cNvSpPr/>
          <p:nvPr/>
        </p:nvSpPr>
        <p:spPr>
          <a:xfrm>
            <a:off x="1664208" y="534466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719072" y="536752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960" dirty="0"/>
          </a:p>
        </p:txBody>
      </p:sp>
      <p:sp>
        <p:nvSpPr>
          <p:cNvPr id="90" name="Shape 88"/>
          <p:cNvSpPr/>
          <p:nvPr/>
        </p:nvSpPr>
        <p:spPr>
          <a:xfrm>
            <a:off x="6327648" y="534466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382512" y="536752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제목·메모 서버 SQL</a:t>
            </a:r>
            <a:endParaRPr lang="en-US" sz="960" dirty="0"/>
          </a:p>
        </p:txBody>
      </p:sp>
      <p:sp>
        <p:nvSpPr>
          <p:cNvPr id="92" name="Shape 90"/>
          <p:cNvSpPr/>
          <p:nvPr/>
        </p:nvSpPr>
        <p:spPr>
          <a:xfrm>
            <a:off x="10643616" y="534466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698480" y="536752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66928" y="570280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21792" y="572566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C19</a:t>
            </a:r>
            <a:endParaRPr lang="en-US" sz="920" dirty="0"/>
          </a:p>
        </p:txBody>
      </p:sp>
      <p:sp>
        <p:nvSpPr>
          <p:cNvPr id="96" name="Shape 94"/>
          <p:cNvSpPr/>
          <p:nvPr/>
        </p:nvSpPr>
        <p:spPr>
          <a:xfrm>
            <a:off x="1664208" y="570280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719072" y="572566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거르기</a:t>
            </a:r>
            <a:endParaRPr lang="en-US" sz="960" dirty="0"/>
          </a:p>
        </p:txBody>
      </p:sp>
      <p:sp>
        <p:nvSpPr>
          <p:cNvPr id="98" name="Shape 96"/>
          <p:cNvSpPr/>
          <p:nvPr/>
        </p:nvSpPr>
        <p:spPr>
          <a:xfrm>
            <a:off x="6327648" y="570280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382512" y="572566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상태·우선순위·태그·지연</a:t>
            </a:r>
            <a:endParaRPr lang="en-US" sz="960" dirty="0"/>
          </a:p>
        </p:txBody>
      </p:sp>
      <p:sp>
        <p:nvSpPr>
          <p:cNvPr id="100" name="Shape 98"/>
          <p:cNvSpPr/>
          <p:nvPr/>
        </p:nvSpPr>
        <p:spPr>
          <a:xfrm>
            <a:off x="10643616" y="570280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0698480" y="572566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566928" y="606094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21792" y="608380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C20</a:t>
            </a:r>
            <a:endParaRPr lang="en-US" sz="920" dirty="0"/>
          </a:p>
        </p:txBody>
      </p:sp>
      <p:sp>
        <p:nvSpPr>
          <p:cNvPr id="104" name="Shape 102"/>
          <p:cNvSpPr/>
          <p:nvPr/>
        </p:nvSpPr>
        <p:spPr>
          <a:xfrm>
            <a:off x="1664208" y="606094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719072" y="608380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기준대로 정렬</a:t>
            </a:r>
            <a:endParaRPr lang="en-US" sz="960" dirty="0"/>
          </a:p>
        </p:txBody>
      </p:sp>
      <p:sp>
        <p:nvSpPr>
          <p:cNvPr id="106" name="Shape 104"/>
          <p:cNvSpPr/>
          <p:nvPr/>
        </p:nvSpPr>
        <p:spPr>
          <a:xfrm>
            <a:off x="6327648" y="606094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382512" y="608380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마감일 → 우선순위 → ID</a:t>
            </a:r>
            <a:endParaRPr lang="en-US" sz="960" dirty="0"/>
          </a:p>
        </p:txBody>
      </p:sp>
      <p:sp>
        <p:nvSpPr>
          <p:cNvPr id="108" name="Shape 106"/>
          <p:cNvSpPr/>
          <p:nvPr/>
        </p:nvSpPr>
        <p:spPr>
          <a:xfrm>
            <a:off x="10643616" y="606094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698480" y="608380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112" name="Text 11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3 — 실제로 한 일 적기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기록 분리와 완료 중복 방지를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C21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연타 기록 1건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+ ON CONFLICT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734056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75691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C22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734056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75691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수도 +1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734056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7569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직접 집계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734056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75691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3346704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3369564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C23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3346704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3369564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저장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3346704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33695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run_log.started_at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3346704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3369564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959352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982212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C24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959352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982212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 시각 저장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959352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98221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run_log.ended_at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959352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982212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572000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459486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C25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4572000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4594860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시간 저장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4572000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45948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actual_minutes · 분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4572000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459486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5184648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520750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C26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5184648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520750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이유 저장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5184648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520750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blocker_reason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5184648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520750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797296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582015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C27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5797296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582015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값 미변경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5797296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582015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기록 API 자동 검사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5797296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582015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4 — 돌아보기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집계와 근거, 다음 계획 이월을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C28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수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삭제하지 않은 기간 내 할 일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734056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75691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C29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734056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75691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수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734056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7569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조인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734056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75691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3346704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3369564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C30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3346704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3369564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수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3346704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33695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미완료 · 마감 &lt; 서울 오늘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3346704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3369564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959352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982212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C31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959352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982212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막힘 수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959352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98221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이유가 있는 할 일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959352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982212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572000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459486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C32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4572000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4594860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예상·실제·차이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4572000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45948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SUM · COALESCE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4572000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459486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5184648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520750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C83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5184648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520750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숫자에서 근거 이동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5184648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520750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조건 함수 · 목록 1건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5184648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520750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797296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582015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C33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5797296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582015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점 이월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5797296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582015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 → carried plan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5797296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582015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5 — 내 것으로 채우고 잃지 않기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자료·복원·보안·제출 정보를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C34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실제 DB 저장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Supabase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451999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474859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C35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451999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474859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새로고침 뒤 복원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451999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474859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ID·날짜·값·단위 유지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451999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474859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2782590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2805450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C78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2782590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2805450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계획 1개 이상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2782590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2805450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직접 입력 · 현재 2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2782590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2805450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113180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136040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C79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113180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136040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5개 이상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113180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136040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직접 입력 · 5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113180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136040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3443771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3466631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C80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3443771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3466631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기록 3개 이상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3443771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3466631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직접 입력 · 3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3443771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3466631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3774362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3797222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C81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3774362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3797222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돌아보기 0 아님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3774362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3797222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200 · 실제 38분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3774362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3797222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4104953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4127813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C36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4104953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4127813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 파일 하나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4104953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4127813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/api/export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4104953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4127813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4435543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4458403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C82</a:t>
            </a:r>
            <a:endParaRPr lang="en-US" sz="920" dirty="0"/>
          </a:p>
        </p:txBody>
      </p:sp>
      <p:sp>
        <p:nvSpPr>
          <p:cNvPr id="72" name="Shape 70"/>
          <p:cNvSpPr/>
          <p:nvPr/>
        </p:nvSpPr>
        <p:spPr>
          <a:xfrm>
            <a:off x="1664208" y="4435543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4458403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안내</a:t>
            </a:r>
            <a:endParaRPr lang="en-US" sz="960" dirty="0"/>
          </a:p>
        </p:txBody>
      </p:sp>
      <p:sp>
        <p:nvSpPr>
          <p:cNvPr id="74" name="Shape 72"/>
          <p:cNvSpPr/>
          <p:nvPr/>
        </p:nvSpPr>
        <p:spPr>
          <a:xfrm>
            <a:off x="6327648" y="4435543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382512" y="4458403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고정 문구</a:t>
            </a:r>
            <a:endParaRPr lang="en-US" sz="960" dirty="0"/>
          </a:p>
        </p:txBody>
      </p:sp>
      <p:sp>
        <p:nvSpPr>
          <p:cNvPr id="76" name="Shape 74"/>
          <p:cNvSpPr/>
          <p:nvPr/>
        </p:nvSpPr>
        <p:spPr>
          <a:xfrm>
            <a:off x="10643616" y="4435543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698480" y="4458403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66928" y="4766134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1792" y="4788994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C58</a:t>
            </a:r>
            <a:endParaRPr lang="en-US" sz="920" dirty="0"/>
          </a:p>
        </p:txBody>
      </p:sp>
      <p:sp>
        <p:nvSpPr>
          <p:cNvPr id="80" name="Shape 78"/>
          <p:cNvSpPr/>
          <p:nvPr/>
        </p:nvSpPr>
        <p:spPr>
          <a:xfrm>
            <a:off x="1664208" y="4766134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719072" y="4788994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비밀키 비노출</a:t>
            </a:r>
            <a:endParaRPr lang="en-US" sz="960" dirty="0"/>
          </a:p>
        </p:txBody>
      </p:sp>
      <p:sp>
        <p:nvSpPr>
          <p:cNvPr id="82" name="Shape 80"/>
          <p:cNvSpPr/>
          <p:nvPr/>
        </p:nvSpPr>
        <p:spPr>
          <a:xfrm>
            <a:off x="6327648" y="4766134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382512" y="4788994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전용 · 번들 0건</a:t>
            </a:r>
            <a:endParaRPr lang="en-US" sz="960" dirty="0"/>
          </a:p>
        </p:txBody>
      </p:sp>
      <p:sp>
        <p:nvSpPr>
          <p:cNvPr id="84" name="Shape 82"/>
          <p:cNvSpPr/>
          <p:nvPr/>
        </p:nvSpPr>
        <p:spPr>
          <a:xfrm>
            <a:off x="10643616" y="4766134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698480" y="4788994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566928" y="5096725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1792" y="5119585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C57</a:t>
            </a:r>
            <a:endParaRPr lang="en-US" sz="920" dirty="0"/>
          </a:p>
        </p:txBody>
      </p:sp>
      <p:sp>
        <p:nvSpPr>
          <p:cNvPr id="88" name="Shape 86"/>
          <p:cNvSpPr/>
          <p:nvPr/>
        </p:nvSpPr>
        <p:spPr>
          <a:xfrm>
            <a:off x="1664208" y="5096725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719072" y="5119585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스크립트 문자 안전</a:t>
            </a:r>
            <a:endParaRPr lang="en-US" sz="960" dirty="0"/>
          </a:p>
        </p:txBody>
      </p:sp>
      <p:sp>
        <p:nvSpPr>
          <p:cNvPr id="90" name="Shape 88"/>
          <p:cNvSpPr/>
          <p:nvPr/>
        </p:nvSpPr>
        <p:spPr>
          <a:xfrm>
            <a:off x="6327648" y="5096725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382512" y="5119585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표시 · 미실행</a:t>
            </a:r>
            <a:endParaRPr lang="en-US" sz="960" dirty="0"/>
          </a:p>
        </p:txBody>
      </p:sp>
      <p:sp>
        <p:nvSpPr>
          <p:cNvPr id="92" name="Shape 90"/>
          <p:cNvSpPr/>
          <p:nvPr/>
        </p:nvSpPr>
        <p:spPr>
          <a:xfrm>
            <a:off x="10643616" y="5096725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698480" y="5119585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66928" y="5427316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21792" y="5450176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C59</a:t>
            </a:r>
            <a:endParaRPr lang="en-US" sz="920" dirty="0"/>
          </a:p>
        </p:txBody>
      </p:sp>
      <p:sp>
        <p:nvSpPr>
          <p:cNvPr id="96" name="Shape 94"/>
          <p:cNvSpPr/>
          <p:nvPr/>
        </p:nvSpPr>
        <p:spPr>
          <a:xfrm>
            <a:off x="1664208" y="5427316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719072" y="5450176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방법 4항목</a:t>
            </a:r>
            <a:endParaRPr lang="en-US" sz="960" dirty="0"/>
          </a:p>
        </p:txBody>
      </p:sp>
      <p:sp>
        <p:nvSpPr>
          <p:cNvPr id="98" name="Shape 96"/>
          <p:cNvSpPr/>
          <p:nvPr/>
        </p:nvSpPr>
        <p:spPr>
          <a:xfrm>
            <a:off x="6327648" y="5427316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382512" y="5450176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docs/검증안내서.md</a:t>
            </a:r>
            <a:endParaRPr lang="en-US" sz="960" dirty="0"/>
          </a:p>
        </p:txBody>
      </p:sp>
      <p:sp>
        <p:nvSpPr>
          <p:cNvPr id="100" name="Shape 98"/>
          <p:cNvSpPr/>
          <p:nvPr/>
        </p:nvSpPr>
        <p:spPr>
          <a:xfrm>
            <a:off x="10643616" y="5427316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0698480" y="5450176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566928" y="5757906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21792" y="5780766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C60</a:t>
            </a:r>
            <a:endParaRPr lang="en-US" sz="920" dirty="0"/>
          </a:p>
        </p:txBody>
      </p:sp>
      <p:sp>
        <p:nvSpPr>
          <p:cNvPr id="104" name="Shape 102"/>
          <p:cNvSpPr/>
          <p:nvPr/>
        </p:nvSpPr>
        <p:spPr>
          <a:xfrm>
            <a:off x="1664208" y="5757906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719072" y="5780766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판단 3항목</a:t>
            </a:r>
            <a:endParaRPr lang="en-US" sz="960" dirty="0"/>
          </a:p>
        </p:txBody>
      </p:sp>
      <p:sp>
        <p:nvSpPr>
          <p:cNvPr id="106" name="Shape 104"/>
          <p:cNvSpPr/>
          <p:nvPr/>
        </p:nvSpPr>
        <p:spPr>
          <a:xfrm>
            <a:off x="6327648" y="5757906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382512" y="5780766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docs/AI_3줄.md</a:t>
            </a:r>
            <a:endParaRPr lang="en-US" sz="960" dirty="0"/>
          </a:p>
        </p:txBody>
      </p:sp>
      <p:sp>
        <p:nvSpPr>
          <p:cNvPr id="108" name="Shape 106"/>
          <p:cNvSpPr/>
          <p:nvPr/>
        </p:nvSpPr>
        <p:spPr>
          <a:xfrm>
            <a:off x="10643616" y="5757906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698480" y="5780766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566928" y="6088497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1792" y="6111357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C01</a:t>
            </a:r>
            <a:endParaRPr lang="en-US" sz="920" dirty="0"/>
          </a:p>
        </p:txBody>
      </p:sp>
      <p:sp>
        <p:nvSpPr>
          <p:cNvPr id="112" name="Shape 110"/>
          <p:cNvSpPr/>
          <p:nvPr/>
        </p:nvSpPr>
        <p:spPr>
          <a:xfrm>
            <a:off x="1664208" y="6088497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719072" y="6111357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무인증 공개 접근</a:t>
            </a:r>
            <a:endParaRPr lang="en-US" sz="960" dirty="0"/>
          </a:p>
        </p:txBody>
      </p:sp>
      <p:sp>
        <p:nvSpPr>
          <p:cNvPr id="114" name="Shape 112"/>
          <p:cNvSpPr/>
          <p:nvPr/>
        </p:nvSpPr>
        <p:spPr>
          <a:xfrm>
            <a:off x="6327648" y="6088497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382512" y="6111357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· GitHub HTTP 200</a:t>
            </a:r>
            <a:endParaRPr lang="en-US" sz="960" dirty="0"/>
          </a:p>
        </p:txBody>
      </p:sp>
      <p:sp>
        <p:nvSpPr>
          <p:cNvPr id="116" name="Shape 114"/>
          <p:cNvSpPr/>
          <p:nvPr/>
        </p:nvSpPr>
        <p:spPr>
          <a:xfrm>
            <a:off x="10643616" y="6088497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698480" y="6111357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3D80B1-ABF8-497F-93BB-836A2EFC01C7}"/>
              </a:ext>
            </a:extLst>
          </p:cNvPr>
          <p:cNvSpPr txBox="1"/>
          <p:nvPr/>
        </p:nvSpPr>
        <p:spPr>
          <a:xfrm>
            <a:off x="571500" y="355600"/>
            <a:ext cx="3810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50" b="1">
                <a:solidFill>
                  <a:srgbClr val="C58B2A"/>
                </a:solidFill>
                <a:latin typeface="맑은 고딕" panose="020B0503020000020004" pitchFamily="50" charset="-127"/>
              </a:rPr>
              <a:t>VERIFICATION GUIDE</a:t>
            </a:r>
            <a:endParaRPr lang="ko-KR" altLang="en-US" sz="850" b="1">
              <a:solidFill>
                <a:srgbClr val="C58B2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F16772-6FE4-4D2B-A808-310B5D392945}"/>
              </a:ext>
            </a:extLst>
          </p:cNvPr>
          <p:cNvSpPr txBox="1"/>
          <p:nvPr/>
        </p:nvSpPr>
        <p:spPr>
          <a:xfrm>
            <a:off x="571500" y="736600"/>
            <a:ext cx="10541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30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초 안에 끝내는 확인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6FCAC6-1633-4276-B4A0-967F762059F8}"/>
              </a:ext>
            </a:extLst>
          </p:cNvPr>
          <p:cNvSpPr txBox="1"/>
          <p:nvPr/>
        </p:nvSpPr>
        <p:spPr>
          <a:xfrm>
            <a:off x="596900" y="1371600"/>
            <a:ext cx="1041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제출용 확인 방법을 네 항목으로 분리했다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.</a:t>
            </a:r>
            <a:endParaRPr lang="ko-KR" altLang="en-US" sz="11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4F144-AA7F-4800-81E0-C518D9620853}"/>
              </a:ext>
            </a:extLst>
          </p:cNvPr>
          <p:cNvSpPr txBox="1"/>
          <p:nvPr/>
        </p:nvSpPr>
        <p:spPr>
          <a:xfrm>
            <a:off x="10985500" y="381000"/>
            <a:ext cx="571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850" b="1">
                <a:solidFill>
                  <a:srgbClr val="146B58"/>
                </a:solidFill>
                <a:latin typeface="맑은 고딕" panose="020B0503020000020004" pitchFamily="50" charset="-127"/>
              </a:rPr>
              <a:t>15</a:t>
            </a:r>
            <a:endParaRPr lang="ko-KR" altLang="en-US" sz="8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753B0A2-4E0E-4A4F-A989-3D33ED14FD27}"/>
              </a:ext>
            </a:extLst>
          </p:cNvPr>
          <p:cNvSpPr/>
          <p:nvPr/>
        </p:nvSpPr>
        <p:spPr>
          <a:xfrm>
            <a:off x="571500" y="1968500"/>
            <a:ext cx="533400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0A87018-D251-4090-B0B5-4C51062A3458}"/>
              </a:ext>
            </a:extLst>
          </p:cNvPr>
          <p:cNvSpPr/>
          <p:nvPr/>
        </p:nvSpPr>
        <p:spPr>
          <a:xfrm>
            <a:off x="774700" y="2171700"/>
            <a:ext cx="431800" cy="431800"/>
          </a:xfrm>
          <a:prstGeom prst="ellipse">
            <a:avLst/>
          </a:prstGeom>
          <a:solidFill>
            <a:srgbClr val="146B5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A49305-327B-46C9-8FA6-E15A15B927CB}"/>
              </a:ext>
            </a:extLst>
          </p:cNvPr>
          <p:cNvSpPr txBox="1"/>
          <p:nvPr/>
        </p:nvSpPr>
        <p:spPr>
          <a:xfrm>
            <a:off x="774700" y="22352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1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6D0B57-5A27-4891-8BD0-6B2F876926CA}"/>
              </a:ext>
            </a:extLst>
          </p:cNvPr>
          <p:cNvSpPr txBox="1"/>
          <p:nvPr/>
        </p:nvSpPr>
        <p:spPr>
          <a:xfrm>
            <a:off x="1384300" y="21463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146B58"/>
                </a:solidFill>
                <a:latin typeface="맑은 고딕" panose="020B0503020000020004" pitchFamily="50" charset="-127"/>
              </a:rPr>
              <a:t>어디로 가나요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6DBE7B-902E-4B21-86F2-65815084FFE4}"/>
              </a:ext>
            </a:extLst>
          </p:cNvPr>
          <p:cNvSpPr txBox="1"/>
          <p:nvPr/>
        </p:nvSpPr>
        <p:spPr>
          <a:xfrm>
            <a:off x="1384300" y="2501900"/>
            <a:ext cx="4292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https://plan-do-see-diary.vercel.app
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로그인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가입 없이 첫 화면으로 이동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671F0D-483C-45DD-80BA-9F0E069E1EAD}"/>
              </a:ext>
            </a:extLst>
          </p:cNvPr>
          <p:cNvSpPr/>
          <p:nvPr/>
        </p:nvSpPr>
        <p:spPr>
          <a:xfrm>
            <a:off x="6286500" y="1968500"/>
            <a:ext cx="533400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3A0DEEF-2A35-4AF7-AE34-329AFA6E50E1}"/>
              </a:ext>
            </a:extLst>
          </p:cNvPr>
          <p:cNvSpPr/>
          <p:nvPr/>
        </p:nvSpPr>
        <p:spPr>
          <a:xfrm>
            <a:off x="6489700" y="2171700"/>
            <a:ext cx="431800" cy="431800"/>
          </a:xfrm>
          <a:prstGeom prst="ellipse">
            <a:avLst/>
          </a:prstGeom>
          <a:solidFill>
            <a:srgbClr val="C58B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9B40FE-077B-404C-B00D-AE86D8455275}"/>
              </a:ext>
            </a:extLst>
          </p:cNvPr>
          <p:cNvSpPr txBox="1"/>
          <p:nvPr/>
        </p:nvSpPr>
        <p:spPr>
          <a:xfrm>
            <a:off x="6489700" y="22352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2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79056F-9923-47BD-B3B3-5EDBC8D03F86}"/>
              </a:ext>
            </a:extLst>
          </p:cNvPr>
          <p:cNvSpPr txBox="1"/>
          <p:nvPr/>
        </p:nvSpPr>
        <p:spPr>
          <a:xfrm>
            <a:off x="7099300" y="21463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C58B2A"/>
                </a:solidFill>
                <a:latin typeface="맑은 고딕" panose="020B0503020000020004" pitchFamily="50" charset="-127"/>
              </a:rPr>
              <a:t>세 단계 안에 무엇을 하나요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E45874-8E04-4C99-95BF-BB0DBC327D18}"/>
              </a:ext>
            </a:extLst>
          </p:cNvPr>
          <p:cNvSpPr txBox="1"/>
          <p:nvPr/>
        </p:nvSpPr>
        <p:spPr>
          <a:xfrm>
            <a:off x="7099300" y="2501900"/>
            <a:ext cx="4292600" cy="48474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① 할 일의 완료 버튼을 빠르게 두 번 누른다
② 돌아보기로 이동한다
③ 완료 수 숫자를 클릭한다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CE3D216-6419-426D-A79D-90B68FCB1ED6}"/>
              </a:ext>
            </a:extLst>
          </p:cNvPr>
          <p:cNvSpPr/>
          <p:nvPr/>
        </p:nvSpPr>
        <p:spPr>
          <a:xfrm>
            <a:off x="571500" y="3810000"/>
            <a:ext cx="5334000" cy="1714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D732757-D894-4517-AD38-EFB405DECCEA}"/>
              </a:ext>
            </a:extLst>
          </p:cNvPr>
          <p:cNvSpPr/>
          <p:nvPr/>
        </p:nvSpPr>
        <p:spPr>
          <a:xfrm>
            <a:off x="774700" y="4013200"/>
            <a:ext cx="431800" cy="431800"/>
          </a:xfrm>
          <a:prstGeom prst="ellipse">
            <a:avLst/>
          </a:prstGeom>
          <a:solidFill>
            <a:srgbClr val="146B5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AF24BF-C712-4889-BF2D-4F619B8C9828}"/>
              </a:ext>
            </a:extLst>
          </p:cNvPr>
          <p:cNvSpPr txBox="1"/>
          <p:nvPr/>
        </p:nvSpPr>
        <p:spPr>
          <a:xfrm>
            <a:off x="774700" y="40767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3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8A6AD5-904A-4295-B179-D8747BEE41B4}"/>
              </a:ext>
            </a:extLst>
          </p:cNvPr>
          <p:cNvSpPr txBox="1"/>
          <p:nvPr/>
        </p:nvSpPr>
        <p:spPr>
          <a:xfrm>
            <a:off x="1384300" y="39878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146B58"/>
                </a:solidFill>
                <a:latin typeface="맑은 고딕" panose="020B0503020000020004" pitchFamily="50" charset="-127"/>
              </a:rPr>
              <a:t>무엇이 보이면 통과인가요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DE0EEA-B9B9-4ABD-A408-D6A1E8F08003}"/>
              </a:ext>
            </a:extLst>
          </p:cNvPr>
          <p:cNvSpPr txBox="1"/>
          <p:nvPr/>
        </p:nvSpPr>
        <p:spPr>
          <a:xfrm>
            <a:off x="1384300" y="4343400"/>
            <a:ext cx="4292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완료 수가 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만 늘고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숫자를 누르면 같은 기간의 완료 근거 목록과 조건 문장이 보인다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새로고침해도 값이 유지된다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</a:t>
            </a:r>
            <a:endParaRPr lang="ko-KR" altLang="en-US" sz="1050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4389371-DC74-4610-9DE8-42BB3C5B50EB}"/>
              </a:ext>
            </a:extLst>
          </p:cNvPr>
          <p:cNvSpPr/>
          <p:nvPr/>
        </p:nvSpPr>
        <p:spPr>
          <a:xfrm>
            <a:off x="6286500" y="3810000"/>
            <a:ext cx="5334000" cy="1714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896884-F9D5-4DCC-8CA6-C72FDCF00157}"/>
              </a:ext>
            </a:extLst>
          </p:cNvPr>
          <p:cNvSpPr/>
          <p:nvPr/>
        </p:nvSpPr>
        <p:spPr>
          <a:xfrm>
            <a:off x="6489700" y="4013200"/>
            <a:ext cx="431800" cy="431800"/>
          </a:xfrm>
          <a:prstGeom prst="ellipse">
            <a:avLst/>
          </a:prstGeom>
          <a:solidFill>
            <a:srgbClr val="D36B5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7E8A27-9531-45AB-B2C1-6ED7BB149AAE}"/>
              </a:ext>
            </a:extLst>
          </p:cNvPr>
          <p:cNvSpPr txBox="1"/>
          <p:nvPr/>
        </p:nvSpPr>
        <p:spPr>
          <a:xfrm>
            <a:off x="6489700" y="40767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4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744AD9-8BAD-4FBD-B4B9-14FA4A1008E2}"/>
              </a:ext>
            </a:extLst>
          </p:cNvPr>
          <p:cNvSpPr txBox="1"/>
          <p:nvPr/>
        </p:nvSpPr>
        <p:spPr>
          <a:xfrm>
            <a:off x="7099300" y="39878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D36B55"/>
                </a:solidFill>
                <a:latin typeface="맑은 고딕" panose="020B0503020000020004" pitchFamily="50" charset="-127"/>
              </a:rPr>
              <a:t>안 될 때는 무엇이 보이나요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D73F0F-AC26-4AD3-9C4A-9333DD8FEC1F}"/>
              </a:ext>
            </a:extLst>
          </p:cNvPr>
          <p:cNvSpPr txBox="1"/>
          <p:nvPr/>
        </p:nvSpPr>
        <p:spPr>
          <a:xfrm>
            <a:off x="7099300" y="4343400"/>
            <a:ext cx="4292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화면 위쪽 오류 띠에 ‘저장하지 못했습니다 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—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다시 시도’가 보인다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빈 화면이나 무반응은 정상 상태가 아니다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</a:t>
            </a:r>
            <a:endParaRPr lang="ko-KR" altLang="en-US" sz="1050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4C8C49-8CFD-45AD-96A9-CDC10187D07B}"/>
              </a:ext>
            </a:extLst>
          </p:cNvPr>
          <p:cNvSpPr txBox="1"/>
          <p:nvPr/>
        </p:nvSpPr>
        <p:spPr>
          <a:xfrm>
            <a:off x="1905000" y="5880100"/>
            <a:ext cx="8382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현재 결과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자동 검사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실제 화면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공개 배포 검증 통과</a:t>
            </a: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9F14283-E80C-46EE-925B-9F94CC0CE815}"/>
              </a:ext>
            </a:extLst>
          </p:cNvPr>
          <p:cNvCxnSpPr/>
          <p:nvPr/>
        </p:nvCxnSpPr>
        <p:spPr>
          <a:xfrm>
            <a:off x="571500" y="6540500"/>
            <a:ext cx="11049000" cy="0"/>
          </a:xfrm>
          <a:prstGeom prst="line">
            <a:avLst/>
          </a:prstGeom>
          <a:ln w="9525">
            <a:solidFill>
              <a:srgbClr val="D8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4F52-952F-44AA-BF6C-A9275601A2BB}"/>
              </a:ext>
            </a:extLst>
          </p:cNvPr>
          <p:cNvSpPr txBox="1"/>
          <p:nvPr/>
        </p:nvSpPr>
        <p:spPr>
          <a:xfrm>
            <a:off x="571500" y="6604000"/>
            <a:ext cx="2286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750" b="1">
                <a:solidFill>
                  <a:srgbClr val="146B58"/>
                </a:solidFill>
                <a:latin typeface="맑은 고딕" panose="020B0503020000020004" pitchFamily="50" charset="-127"/>
              </a:rPr>
              <a:t>PLAN · DO · SEE</a:t>
            </a:r>
            <a:endParaRPr lang="ko-KR" altLang="en-US" sz="7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0AA1A44-F459-43A1-96F6-6BF7D298FA7F}"/>
              </a:ext>
            </a:extLst>
          </p:cNvPr>
          <p:cNvSpPr txBox="1"/>
          <p:nvPr/>
        </p:nvSpPr>
        <p:spPr>
          <a:xfrm>
            <a:off x="10414000" y="6604000"/>
            <a:ext cx="12065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750">
                <a:solidFill>
                  <a:srgbClr val="5F6F69"/>
                </a:solidFill>
                <a:latin typeface="맑은 고딕" panose="020B0503020000020004" pitchFamily="50" charset="-127"/>
              </a:rPr>
              <a:t>2026.09.01</a:t>
            </a:r>
            <a:endParaRPr lang="ko-KR" altLang="en-US" sz="75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501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35A9D9-1B2D-4D2D-939F-669ED6F5121F}"/>
              </a:ext>
            </a:extLst>
          </p:cNvPr>
          <p:cNvSpPr txBox="1"/>
          <p:nvPr/>
        </p:nvSpPr>
        <p:spPr>
          <a:xfrm>
            <a:off x="571500" y="355600"/>
            <a:ext cx="3810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50" b="1">
                <a:solidFill>
                  <a:srgbClr val="C58B2A"/>
                </a:solidFill>
                <a:latin typeface="맑은 고딕" panose="020B0503020000020004" pitchFamily="50" charset="-127"/>
              </a:rPr>
              <a:t>VERIFICATION GUIDE</a:t>
            </a:r>
            <a:endParaRPr lang="ko-KR" altLang="en-US" sz="850" b="1">
              <a:solidFill>
                <a:srgbClr val="C58B2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85423C-56BC-4BC0-83BC-D2B451458BA6}"/>
              </a:ext>
            </a:extLst>
          </p:cNvPr>
          <p:cNvSpPr txBox="1"/>
          <p:nvPr/>
        </p:nvSpPr>
        <p:spPr>
          <a:xfrm>
            <a:off x="571500" y="736600"/>
            <a:ext cx="10541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항목별 확인 절차 ① 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— 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핵심 흐름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C2CBA-F09E-4D0F-841A-A5498D333EC8}"/>
              </a:ext>
            </a:extLst>
          </p:cNvPr>
          <p:cNvSpPr txBox="1"/>
          <p:nvPr/>
        </p:nvSpPr>
        <p:spPr>
          <a:xfrm>
            <a:off x="596900" y="1371600"/>
            <a:ext cx="1041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계획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할 일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실행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돌아보기의 핵심 규칙을 직접 확인한다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.</a:t>
            </a:r>
            <a:endParaRPr lang="ko-KR" altLang="en-US" sz="11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79C13-BAAD-49E5-9D5D-BE954692FDA1}"/>
              </a:ext>
            </a:extLst>
          </p:cNvPr>
          <p:cNvSpPr txBox="1"/>
          <p:nvPr/>
        </p:nvSpPr>
        <p:spPr>
          <a:xfrm>
            <a:off x="10985500" y="381000"/>
            <a:ext cx="571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850" b="1">
                <a:solidFill>
                  <a:srgbClr val="146B58"/>
                </a:solidFill>
                <a:latin typeface="맑은 고딕" panose="020B0503020000020004" pitchFamily="50" charset="-127"/>
              </a:rPr>
              <a:t>16</a:t>
            </a:r>
            <a:endParaRPr lang="ko-KR" altLang="en-US" sz="8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5BAD3B7-45FE-4ED6-841C-02D9B11302CA}"/>
              </a:ext>
            </a:extLst>
          </p:cNvPr>
          <p:cNvSpPr/>
          <p:nvPr/>
        </p:nvSpPr>
        <p:spPr>
          <a:xfrm>
            <a:off x="571500" y="1930400"/>
            <a:ext cx="1333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A2EA39-4619-4EDA-9C39-D4C53C4C7559}"/>
              </a:ext>
            </a:extLst>
          </p:cNvPr>
          <p:cNvSpPr txBox="1"/>
          <p:nvPr/>
        </p:nvSpPr>
        <p:spPr>
          <a:xfrm>
            <a:off x="660400" y="2019300"/>
            <a:ext cx="1155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확인 항목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1D12CD8-3D21-4A70-98DF-182721BC2637}"/>
              </a:ext>
            </a:extLst>
          </p:cNvPr>
          <p:cNvSpPr/>
          <p:nvPr/>
        </p:nvSpPr>
        <p:spPr>
          <a:xfrm>
            <a:off x="1905000" y="1930400"/>
            <a:ext cx="4889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87E227-F3C5-4F32-AF01-A4A4633877C1}"/>
              </a:ext>
            </a:extLst>
          </p:cNvPr>
          <p:cNvSpPr txBox="1"/>
          <p:nvPr/>
        </p:nvSpPr>
        <p:spPr>
          <a:xfrm>
            <a:off x="1993900" y="2019300"/>
            <a:ext cx="4711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절차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0E029C5-8081-4166-BE99-70E6D9C64528}"/>
              </a:ext>
            </a:extLst>
          </p:cNvPr>
          <p:cNvSpPr/>
          <p:nvPr/>
        </p:nvSpPr>
        <p:spPr>
          <a:xfrm>
            <a:off x="6794500" y="1930400"/>
            <a:ext cx="4127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57F59-25D0-49FB-BD8F-DAF0923BCA03}"/>
              </a:ext>
            </a:extLst>
          </p:cNvPr>
          <p:cNvSpPr txBox="1"/>
          <p:nvPr/>
        </p:nvSpPr>
        <p:spPr>
          <a:xfrm>
            <a:off x="6883400" y="2019300"/>
            <a:ext cx="3949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통과 기준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18CA846-CFD5-488B-B897-9167DF87B6EC}"/>
              </a:ext>
            </a:extLst>
          </p:cNvPr>
          <p:cNvSpPr/>
          <p:nvPr/>
        </p:nvSpPr>
        <p:spPr>
          <a:xfrm>
            <a:off x="10922000" y="1930400"/>
            <a:ext cx="10160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774F9D-EF9D-426A-A90A-C547449D2201}"/>
              </a:ext>
            </a:extLst>
          </p:cNvPr>
          <p:cNvSpPr txBox="1"/>
          <p:nvPr/>
        </p:nvSpPr>
        <p:spPr>
          <a:xfrm>
            <a:off x="11010900" y="2019300"/>
            <a:ext cx="8382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상태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9651CBF-D8C0-4938-858C-F75D9C8237E2}"/>
              </a:ext>
            </a:extLst>
          </p:cNvPr>
          <p:cNvSpPr/>
          <p:nvPr/>
        </p:nvSpPr>
        <p:spPr>
          <a:xfrm>
            <a:off x="571500" y="236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754D32-C830-40FE-8BC2-28B75791BF29}"/>
              </a:ext>
            </a:extLst>
          </p:cNvPr>
          <p:cNvSpPr txBox="1"/>
          <p:nvPr/>
        </p:nvSpPr>
        <p:spPr>
          <a:xfrm>
            <a:off x="660400" y="245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계획 이력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C08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DA27726-80EA-42D5-AE20-960B2C14B6C0}"/>
              </a:ext>
            </a:extLst>
          </p:cNvPr>
          <p:cNvSpPr/>
          <p:nvPr/>
        </p:nvSpPr>
        <p:spPr>
          <a:xfrm>
            <a:off x="1905000" y="236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73D173-A7E8-475F-BD0B-17360FE1CF5B}"/>
              </a:ext>
            </a:extLst>
          </p:cNvPr>
          <p:cNvSpPr txBox="1"/>
          <p:nvPr/>
        </p:nvSpPr>
        <p:spPr>
          <a:xfrm>
            <a:off x="1993900" y="245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계획 상세 → 제목 수정 → 저장 → 하단 이력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52497C5-7A34-406A-9E2C-AAFAC2363EAF}"/>
              </a:ext>
            </a:extLst>
          </p:cNvPr>
          <p:cNvSpPr/>
          <p:nvPr/>
        </p:nvSpPr>
        <p:spPr>
          <a:xfrm>
            <a:off x="6794500" y="236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7C3168-C1E3-40ED-858F-A1FAAEFEF0FF}"/>
              </a:ext>
            </a:extLst>
          </p:cNvPr>
          <p:cNvSpPr txBox="1"/>
          <p:nvPr/>
        </p:nvSpPr>
        <p:spPr>
          <a:xfrm>
            <a:off x="6883400" y="245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고치기 전 값이 이력에 남는다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E6140F-A4BC-4E77-AB36-BFE81D787AA7}"/>
              </a:ext>
            </a:extLst>
          </p:cNvPr>
          <p:cNvSpPr/>
          <p:nvPr/>
        </p:nvSpPr>
        <p:spPr>
          <a:xfrm>
            <a:off x="10922000" y="236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24CA95-63AA-483F-8E2A-CAFA63344AC8}"/>
              </a:ext>
            </a:extLst>
          </p:cNvPr>
          <p:cNvSpPr txBox="1"/>
          <p:nvPr/>
        </p:nvSpPr>
        <p:spPr>
          <a:xfrm>
            <a:off x="11010900" y="245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0E0809-1C84-4D5D-92EC-A7957D0E1837}"/>
              </a:ext>
            </a:extLst>
          </p:cNvPr>
          <p:cNvSpPr/>
          <p:nvPr/>
        </p:nvSpPr>
        <p:spPr>
          <a:xfrm>
            <a:off x="571500" y="299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DE97E3-5243-44FA-8911-E12AF236E2B5}"/>
              </a:ext>
            </a:extLst>
          </p:cNvPr>
          <p:cNvSpPr txBox="1"/>
          <p:nvPr/>
        </p:nvSpPr>
        <p:spPr>
          <a:xfrm>
            <a:off x="660400" y="308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정렬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C20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90BDEC7-58D8-4B6D-A020-1CC7BC598253}"/>
              </a:ext>
            </a:extLst>
          </p:cNvPr>
          <p:cNvSpPr/>
          <p:nvPr/>
        </p:nvSpPr>
        <p:spPr>
          <a:xfrm>
            <a:off x="1905000" y="299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512DF6-3C6C-4681-939B-2BC9A2C6525B}"/>
              </a:ext>
            </a:extLst>
          </p:cNvPr>
          <p:cNvSpPr txBox="1"/>
          <p:nvPr/>
        </p:nvSpPr>
        <p:spPr>
          <a:xfrm>
            <a:off x="1993900" y="308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할 일 목록을 같은 조건으로 새로고침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2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회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FF56B82-2A49-4858-A3F9-12097A6E5496}"/>
              </a:ext>
            </a:extLst>
          </p:cNvPr>
          <p:cNvSpPr/>
          <p:nvPr/>
        </p:nvSpPr>
        <p:spPr>
          <a:xfrm>
            <a:off x="6794500" y="299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84B806-87E4-4A27-82FA-3BD00F253924}"/>
              </a:ext>
            </a:extLst>
          </p:cNvPr>
          <p:cNvSpPr txBox="1"/>
          <p:nvPr/>
        </p:nvSpPr>
        <p:spPr>
          <a:xfrm>
            <a:off x="6883400" y="308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화면 기준대로 순서가 같다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99058A-F4C2-4C5D-BA16-4E4DC45796B4}"/>
              </a:ext>
            </a:extLst>
          </p:cNvPr>
          <p:cNvSpPr/>
          <p:nvPr/>
        </p:nvSpPr>
        <p:spPr>
          <a:xfrm>
            <a:off x="10922000" y="299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7FBA4C-2C7B-4BB1-9B3D-D1FBAA1597A7}"/>
              </a:ext>
            </a:extLst>
          </p:cNvPr>
          <p:cNvSpPr txBox="1"/>
          <p:nvPr/>
        </p:nvSpPr>
        <p:spPr>
          <a:xfrm>
            <a:off x="11010900" y="308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3AA8F4A-53BB-4367-BFEC-07E8BB64AFA5}"/>
              </a:ext>
            </a:extLst>
          </p:cNvPr>
          <p:cNvSpPr/>
          <p:nvPr/>
        </p:nvSpPr>
        <p:spPr>
          <a:xfrm>
            <a:off x="571500" y="363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386D62-0B8C-4679-A8F8-6293B6CC26F9}"/>
              </a:ext>
            </a:extLst>
          </p:cNvPr>
          <p:cNvSpPr txBox="1"/>
          <p:nvPr/>
        </p:nvSpPr>
        <p:spPr>
          <a:xfrm>
            <a:off x="660400" y="372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완료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C21/22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6A2940C-84AC-441F-8861-BB8B440C67E9}"/>
              </a:ext>
            </a:extLst>
          </p:cNvPr>
          <p:cNvSpPr/>
          <p:nvPr/>
        </p:nvSpPr>
        <p:spPr>
          <a:xfrm>
            <a:off x="1905000" y="363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8B38CF-0FCC-4109-9EAC-BE17E7AE04A1}"/>
              </a:ext>
            </a:extLst>
          </p:cNvPr>
          <p:cNvSpPr txBox="1"/>
          <p:nvPr/>
        </p:nvSpPr>
        <p:spPr>
          <a:xfrm>
            <a:off x="1993900" y="372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완료 버튼 연타 → 돌아보기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6CACFF8-BF87-4CAA-828D-F0DF821CEAC8}"/>
              </a:ext>
            </a:extLst>
          </p:cNvPr>
          <p:cNvSpPr/>
          <p:nvPr/>
        </p:nvSpPr>
        <p:spPr>
          <a:xfrm>
            <a:off x="6794500" y="363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E1BA9B-8D25-402F-B0DC-ECF6B9B7AA8B}"/>
              </a:ext>
            </a:extLst>
          </p:cNvPr>
          <p:cNvSpPr txBox="1"/>
          <p:nvPr/>
        </p:nvSpPr>
        <p:spPr>
          <a:xfrm>
            <a:off x="6883400" y="372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기록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건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완료 수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+1</a:t>
            </a:r>
            <a:endParaRPr lang="ko-KR" altLang="en-US" sz="870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B5D424D-A1EE-49A3-820B-3A1E52184DEF}"/>
              </a:ext>
            </a:extLst>
          </p:cNvPr>
          <p:cNvSpPr/>
          <p:nvPr/>
        </p:nvSpPr>
        <p:spPr>
          <a:xfrm>
            <a:off x="10922000" y="363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FEE09B-206B-4AD9-9E66-C1DC0CE6A003}"/>
              </a:ext>
            </a:extLst>
          </p:cNvPr>
          <p:cNvSpPr txBox="1"/>
          <p:nvPr/>
        </p:nvSpPr>
        <p:spPr>
          <a:xfrm>
            <a:off x="11010900" y="372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E44683BA-C108-4055-A846-B55D743C42E4}"/>
              </a:ext>
            </a:extLst>
          </p:cNvPr>
          <p:cNvSpPr/>
          <p:nvPr/>
        </p:nvSpPr>
        <p:spPr>
          <a:xfrm>
            <a:off x="571500" y="426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2522ED-A475-4E20-B667-6757FD367647}"/>
              </a:ext>
            </a:extLst>
          </p:cNvPr>
          <p:cNvSpPr txBox="1"/>
          <p:nvPr/>
        </p:nvSpPr>
        <p:spPr>
          <a:xfrm>
            <a:off x="660400" y="435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실행 분리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C27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50C5FF2-794F-4C87-9A80-30E5F1F85701}"/>
              </a:ext>
            </a:extLst>
          </p:cNvPr>
          <p:cNvSpPr/>
          <p:nvPr/>
        </p:nvSpPr>
        <p:spPr>
          <a:xfrm>
            <a:off x="1905000" y="426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D182F07-C6A5-432A-9ED8-ABF715A28334}"/>
              </a:ext>
            </a:extLst>
          </p:cNvPr>
          <p:cNvSpPr txBox="1"/>
          <p:nvPr/>
        </p:nvSpPr>
        <p:spPr>
          <a:xfrm>
            <a:off x="1993900" y="435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실행 기록 추가 후 예상 시간 확인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F8A5B0BC-668E-4B3C-A7FF-080A92CF3A47}"/>
              </a:ext>
            </a:extLst>
          </p:cNvPr>
          <p:cNvSpPr/>
          <p:nvPr/>
        </p:nvSpPr>
        <p:spPr>
          <a:xfrm>
            <a:off x="6794500" y="426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4B0D9E-9DEB-450D-8EFD-AE734A987322}"/>
              </a:ext>
            </a:extLst>
          </p:cNvPr>
          <p:cNvSpPr txBox="1"/>
          <p:nvPr/>
        </p:nvSpPr>
        <p:spPr>
          <a:xfrm>
            <a:off x="6883400" y="435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예상 시간이 바뀌지 않는다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1643295-2482-4A69-B366-9A4A8C707A59}"/>
              </a:ext>
            </a:extLst>
          </p:cNvPr>
          <p:cNvSpPr/>
          <p:nvPr/>
        </p:nvSpPr>
        <p:spPr>
          <a:xfrm>
            <a:off x="10922000" y="426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8724D50-9D7F-4E4F-9FD9-F4AD2221EB8E}"/>
              </a:ext>
            </a:extLst>
          </p:cNvPr>
          <p:cNvSpPr txBox="1"/>
          <p:nvPr/>
        </p:nvSpPr>
        <p:spPr>
          <a:xfrm>
            <a:off x="11010900" y="435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5E414AA-F640-4966-9DC6-F38CDD3C3EC8}"/>
              </a:ext>
            </a:extLst>
          </p:cNvPr>
          <p:cNvSpPr/>
          <p:nvPr/>
        </p:nvSpPr>
        <p:spPr>
          <a:xfrm>
            <a:off x="571500" y="490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EFE80-A8D2-4E3A-A5FB-98B394DDE792}"/>
              </a:ext>
            </a:extLst>
          </p:cNvPr>
          <p:cNvSpPr txBox="1"/>
          <p:nvPr/>
        </p:nvSpPr>
        <p:spPr>
          <a:xfrm>
            <a:off x="660400" y="499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지연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C30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959B3B37-E92E-493B-B378-05C354DE49E4}"/>
              </a:ext>
            </a:extLst>
          </p:cNvPr>
          <p:cNvSpPr/>
          <p:nvPr/>
        </p:nvSpPr>
        <p:spPr>
          <a:xfrm>
            <a:off x="1905000" y="490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2F0267A-60C2-4F42-9AED-B78CD3592D95}"/>
              </a:ext>
            </a:extLst>
          </p:cNvPr>
          <p:cNvSpPr txBox="1"/>
          <p:nvPr/>
        </p:nvSpPr>
        <p:spPr>
          <a:xfrm>
            <a:off x="1993900" y="499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지난 마감일의 미완료 할 일 확인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9CE8C171-39F0-42D8-9CC3-1FBB65BD1D3D}"/>
              </a:ext>
            </a:extLst>
          </p:cNvPr>
          <p:cNvSpPr/>
          <p:nvPr/>
        </p:nvSpPr>
        <p:spPr>
          <a:xfrm>
            <a:off x="6794500" y="490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EFE70CC-A75E-4FEA-985D-81B511CB7908}"/>
              </a:ext>
            </a:extLst>
          </p:cNvPr>
          <p:cNvSpPr txBox="1"/>
          <p:nvPr/>
        </p:nvSpPr>
        <p:spPr>
          <a:xfrm>
            <a:off x="6883400" y="499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완료 건은 지연에서 제외된다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FCB01EF-C280-4728-8992-8B51743A9E30}"/>
              </a:ext>
            </a:extLst>
          </p:cNvPr>
          <p:cNvSpPr/>
          <p:nvPr/>
        </p:nvSpPr>
        <p:spPr>
          <a:xfrm>
            <a:off x="10922000" y="490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087E3F7-BE7F-448E-8CA5-45B6340325FF}"/>
              </a:ext>
            </a:extLst>
          </p:cNvPr>
          <p:cNvSpPr txBox="1"/>
          <p:nvPr/>
        </p:nvSpPr>
        <p:spPr>
          <a:xfrm>
            <a:off x="11010900" y="499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D4374A7-EF5D-47D1-A060-97CA15AF694C}"/>
              </a:ext>
            </a:extLst>
          </p:cNvPr>
          <p:cNvSpPr/>
          <p:nvPr/>
        </p:nvSpPr>
        <p:spPr>
          <a:xfrm>
            <a:off x="571500" y="553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2EF0955-C3AF-4D73-9CD8-C8240FC9429F}"/>
              </a:ext>
            </a:extLst>
          </p:cNvPr>
          <p:cNvSpPr txBox="1"/>
          <p:nvPr/>
        </p:nvSpPr>
        <p:spPr>
          <a:xfrm>
            <a:off x="660400" y="562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되짚기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C83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3A52712-ED01-4080-BDF3-3A0FDDEAD0CC}"/>
              </a:ext>
            </a:extLst>
          </p:cNvPr>
          <p:cNvSpPr/>
          <p:nvPr/>
        </p:nvSpPr>
        <p:spPr>
          <a:xfrm>
            <a:off x="1905000" y="553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C51F0C-AFB8-462D-BC84-59EEAA9F0A4F}"/>
              </a:ext>
            </a:extLst>
          </p:cNvPr>
          <p:cNvSpPr txBox="1"/>
          <p:nvPr/>
        </p:nvSpPr>
        <p:spPr>
          <a:xfrm>
            <a:off x="1993900" y="562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돌아보기 집계 숫자 클릭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D1FA6F33-7B5C-4F9E-B202-255B321EB289}"/>
              </a:ext>
            </a:extLst>
          </p:cNvPr>
          <p:cNvSpPr/>
          <p:nvPr/>
        </p:nvSpPr>
        <p:spPr>
          <a:xfrm>
            <a:off x="6794500" y="553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549B91-0C57-47EA-A4CF-9C36B2ABB3B8}"/>
              </a:ext>
            </a:extLst>
          </p:cNvPr>
          <p:cNvSpPr txBox="1"/>
          <p:nvPr/>
        </p:nvSpPr>
        <p:spPr>
          <a:xfrm>
            <a:off x="6883400" y="562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목록 건수와 집계 숫자가 같다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5CBE261A-13B6-4CD2-80FD-FCA16EB60505}"/>
              </a:ext>
            </a:extLst>
          </p:cNvPr>
          <p:cNvSpPr/>
          <p:nvPr/>
        </p:nvSpPr>
        <p:spPr>
          <a:xfrm>
            <a:off x="10922000" y="553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47872B5-29DF-4E56-906A-B7920F6DD7D0}"/>
              </a:ext>
            </a:extLst>
          </p:cNvPr>
          <p:cNvSpPr txBox="1"/>
          <p:nvPr/>
        </p:nvSpPr>
        <p:spPr>
          <a:xfrm>
            <a:off x="11010900" y="562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D4C52094-E382-439A-9643-F830C40A7036}"/>
              </a:ext>
            </a:extLst>
          </p:cNvPr>
          <p:cNvCxnSpPr/>
          <p:nvPr/>
        </p:nvCxnSpPr>
        <p:spPr>
          <a:xfrm>
            <a:off x="571500" y="6540500"/>
            <a:ext cx="11049000" cy="0"/>
          </a:xfrm>
          <a:prstGeom prst="line">
            <a:avLst/>
          </a:prstGeom>
          <a:ln w="9525">
            <a:solidFill>
              <a:srgbClr val="D8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49F75DA8-37EA-4A29-B1FE-F61FB7A2DA47}"/>
              </a:ext>
            </a:extLst>
          </p:cNvPr>
          <p:cNvSpPr txBox="1"/>
          <p:nvPr/>
        </p:nvSpPr>
        <p:spPr>
          <a:xfrm>
            <a:off x="571500" y="6604000"/>
            <a:ext cx="2286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750" b="1">
                <a:solidFill>
                  <a:srgbClr val="146B58"/>
                </a:solidFill>
                <a:latin typeface="맑은 고딕" panose="020B0503020000020004" pitchFamily="50" charset="-127"/>
              </a:rPr>
              <a:t>PLAN · DO · SEE</a:t>
            </a:r>
            <a:endParaRPr lang="ko-KR" altLang="en-US" sz="7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40378D9-40AE-47AA-AED0-955191667779}"/>
              </a:ext>
            </a:extLst>
          </p:cNvPr>
          <p:cNvSpPr txBox="1"/>
          <p:nvPr/>
        </p:nvSpPr>
        <p:spPr>
          <a:xfrm>
            <a:off x="10414000" y="6604000"/>
            <a:ext cx="12065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750">
                <a:solidFill>
                  <a:srgbClr val="5F6F69"/>
                </a:solidFill>
                <a:latin typeface="맑은 고딕" panose="020B0503020000020004" pitchFamily="50" charset="-127"/>
              </a:rPr>
              <a:t>2026.09.01</a:t>
            </a:r>
            <a:endParaRPr lang="ko-KR" altLang="en-US" sz="75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0981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77FA61-A70D-4EBE-BA46-913829D42A60}"/>
              </a:ext>
            </a:extLst>
          </p:cNvPr>
          <p:cNvSpPr txBox="1"/>
          <p:nvPr/>
        </p:nvSpPr>
        <p:spPr>
          <a:xfrm>
            <a:off x="571500" y="355600"/>
            <a:ext cx="3810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50" b="1">
                <a:solidFill>
                  <a:srgbClr val="C58B2A"/>
                </a:solidFill>
                <a:latin typeface="맑은 고딕" panose="020B0503020000020004" pitchFamily="50" charset="-127"/>
              </a:rPr>
              <a:t>VERIFICATION GUIDE</a:t>
            </a:r>
            <a:endParaRPr lang="ko-KR" altLang="en-US" sz="850" b="1">
              <a:solidFill>
                <a:srgbClr val="C58B2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764E52-7D61-4BCC-9453-E28D8496EB04}"/>
              </a:ext>
            </a:extLst>
          </p:cNvPr>
          <p:cNvSpPr txBox="1"/>
          <p:nvPr/>
        </p:nvSpPr>
        <p:spPr>
          <a:xfrm>
            <a:off x="571500" y="736600"/>
            <a:ext cx="10541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항목별 확인 절차 ② 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— 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복원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보안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배포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C7B1D9-6910-4489-A31D-7A3E7A719F83}"/>
              </a:ext>
            </a:extLst>
          </p:cNvPr>
          <p:cNvSpPr txBox="1"/>
          <p:nvPr/>
        </p:nvSpPr>
        <p:spPr>
          <a:xfrm>
            <a:off x="596900" y="1371600"/>
            <a:ext cx="1041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데이터 보존과 공개 제출 상태를 확인한다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.</a:t>
            </a:r>
            <a:endParaRPr lang="ko-KR" altLang="en-US" sz="11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DA27BF-BF2A-45B8-B8F5-6CD953831121}"/>
              </a:ext>
            </a:extLst>
          </p:cNvPr>
          <p:cNvSpPr txBox="1"/>
          <p:nvPr/>
        </p:nvSpPr>
        <p:spPr>
          <a:xfrm>
            <a:off x="10985500" y="381000"/>
            <a:ext cx="571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850" b="1">
                <a:solidFill>
                  <a:srgbClr val="146B58"/>
                </a:solidFill>
                <a:latin typeface="맑은 고딕" panose="020B0503020000020004" pitchFamily="50" charset="-127"/>
              </a:rPr>
              <a:t>17</a:t>
            </a:r>
            <a:endParaRPr lang="ko-KR" altLang="en-US" sz="8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55460BA-1611-436A-8D8F-B4C3A0AB9102}"/>
              </a:ext>
            </a:extLst>
          </p:cNvPr>
          <p:cNvSpPr/>
          <p:nvPr/>
        </p:nvSpPr>
        <p:spPr>
          <a:xfrm>
            <a:off x="571500" y="1930400"/>
            <a:ext cx="1333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AAAB07-3DAC-4057-90C6-D3182AF8C2FC}"/>
              </a:ext>
            </a:extLst>
          </p:cNvPr>
          <p:cNvSpPr txBox="1"/>
          <p:nvPr/>
        </p:nvSpPr>
        <p:spPr>
          <a:xfrm>
            <a:off x="660400" y="2019300"/>
            <a:ext cx="1155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확인 항목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103CAE0-4009-4015-993C-A6CBD22B2C2D}"/>
              </a:ext>
            </a:extLst>
          </p:cNvPr>
          <p:cNvSpPr/>
          <p:nvPr/>
        </p:nvSpPr>
        <p:spPr>
          <a:xfrm>
            <a:off x="1905000" y="1930400"/>
            <a:ext cx="4889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940923-5F90-42B2-BE8F-2CAB8B7590E8}"/>
              </a:ext>
            </a:extLst>
          </p:cNvPr>
          <p:cNvSpPr txBox="1"/>
          <p:nvPr/>
        </p:nvSpPr>
        <p:spPr>
          <a:xfrm>
            <a:off x="1993900" y="2019300"/>
            <a:ext cx="4711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절차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4B965A7-90F2-4013-9FDE-71B76F346B24}"/>
              </a:ext>
            </a:extLst>
          </p:cNvPr>
          <p:cNvSpPr/>
          <p:nvPr/>
        </p:nvSpPr>
        <p:spPr>
          <a:xfrm>
            <a:off x="6794500" y="1930400"/>
            <a:ext cx="4127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39CD5-3C6A-4B45-B5A6-F2FF8DC3AA7E}"/>
              </a:ext>
            </a:extLst>
          </p:cNvPr>
          <p:cNvSpPr txBox="1"/>
          <p:nvPr/>
        </p:nvSpPr>
        <p:spPr>
          <a:xfrm>
            <a:off x="6883400" y="2019300"/>
            <a:ext cx="3949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통과 기준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550E729-DFF8-4B6A-B029-6A6377C75057}"/>
              </a:ext>
            </a:extLst>
          </p:cNvPr>
          <p:cNvSpPr/>
          <p:nvPr/>
        </p:nvSpPr>
        <p:spPr>
          <a:xfrm>
            <a:off x="10922000" y="1930400"/>
            <a:ext cx="10160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CB57C4-700B-4B66-8B0A-5D42C9B5C3B8}"/>
              </a:ext>
            </a:extLst>
          </p:cNvPr>
          <p:cNvSpPr txBox="1"/>
          <p:nvPr/>
        </p:nvSpPr>
        <p:spPr>
          <a:xfrm>
            <a:off x="11010900" y="2019300"/>
            <a:ext cx="8382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상태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39EDE75-AA40-48BA-8E4A-015968F64084}"/>
              </a:ext>
            </a:extLst>
          </p:cNvPr>
          <p:cNvSpPr/>
          <p:nvPr/>
        </p:nvSpPr>
        <p:spPr>
          <a:xfrm>
            <a:off x="571500" y="236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A9AA6B-C292-43AB-8150-0F16B23E0E24}"/>
              </a:ext>
            </a:extLst>
          </p:cNvPr>
          <p:cNvSpPr txBox="1"/>
          <p:nvPr/>
        </p:nvSpPr>
        <p:spPr>
          <a:xfrm>
            <a:off x="660400" y="245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이월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C33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E7479AE-8117-4977-A63E-F9FBF1BDD8C2}"/>
              </a:ext>
            </a:extLst>
          </p:cNvPr>
          <p:cNvSpPr/>
          <p:nvPr/>
        </p:nvSpPr>
        <p:spPr>
          <a:xfrm>
            <a:off x="1905000" y="236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2B252C-7937-4E14-90A0-2C6C92E02935}"/>
              </a:ext>
            </a:extLst>
          </p:cNvPr>
          <p:cNvSpPr txBox="1"/>
          <p:nvPr/>
        </p:nvSpPr>
        <p:spPr>
          <a:xfrm>
            <a:off x="1993900" y="245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고칠 점 작성 → 이 한 줄로 계획 만들기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27514E-48B8-42C3-85C6-E08D382C2E6B}"/>
              </a:ext>
            </a:extLst>
          </p:cNvPr>
          <p:cNvSpPr/>
          <p:nvPr/>
        </p:nvSpPr>
        <p:spPr>
          <a:xfrm>
            <a:off x="6794500" y="236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3410D3-236D-4105-A946-70B60212E626}"/>
              </a:ext>
            </a:extLst>
          </p:cNvPr>
          <p:cNvSpPr txBox="1"/>
          <p:nvPr/>
        </p:nvSpPr>
        <p:spPr>
          <a:xfrm>
            <a:off x="6883400" y="245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계획에 문장과 출처가 보인다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9A8C11C-5437-4F66-BCC5-7AC6767610C3}"/>
              </a:ext>
            </a:extLst>
          </p:cNvPr>
          <p:cNvSpPr/>
          <p:nvPr/>
        </p:nvSpPr>
        <p:spPr>
          <a:xfrm>
            <a:off x="10922000" y="236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1FE9B7-4DBD-44A3-BFED-6C823D2EAD43}"/>
              </a:ext>
            </a:extLst>
          </p:cNvPr>
          <p:cNvSpPr txBox="1"/>
          <p:nvPr/>
        </p:nvSpPr>
        <p:spPr>
          <a:xfrm>
            <a:off x="11010900" y="245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7A5A420-6206-48BE-AF17-BDB0E70EDC1C}"/>
              </a:ext>
            </a:extLst>
          </p:cNvPr>
          <p:cNvSpPr/>
          <p:nvPr/>
        </p:nvSpPr>
        <p:spPr>
          <a:xfrm>
            <a:off x="571500" y="299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B025A1-8DB5-41E7-8C24-E10BC350515E}"/>
              </a:ext>
            </a:extLst>
          </p:cNvPr>
          <p:cNvSpPr txBox="1"/>
          <p:nvPr/>
        </p:nvSpPr>
        <p:spPr>
          <a:xfrm>
            <a:off x="660400" y="308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복원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C35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9E6410-10C3-45F2-AB12-05B641D479A4}"/>
              </a:ext>
            </a:extLst>
          </p:cNvPr>
          <p:cNvSpPr/>
          <p:nvPr/>
        </p:nvSpPr>
        <p:spPr>
          <a:xfrm>
            <a:off x="1905000" y="299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D2D07A-E148-4DA3-B234-E1C75E7B9199}"/>
              </a:ext>
            </a:extLst>
          </p:cNvPr>
          <p:cNvSpPr txBox="1"/>
          <p:nvPr/>
        </p:nvSpPr>
        <p:spPr>
          <a:xfrm>
            <a:off x="1993900" y="308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자료 입력 후 새로고침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11BB625-7E00-4D58-B377-24A2C4244987}"/>
              </a:ext>
            </a:extLst>
          </p:cNvPr>
          <p:cNvSpPr/>
          <p:nvPr/>
        </p:nvSpPr>
        <p:spPr>
          <a:xfrm>
            <a:off x="6794500" y="299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31085A-5625-4156-B8BC-184566F577DA}"/>
              </a:ext>
            </a:extLst>
          </p:cNvPr>
          <p:cNvSpPr txBox="1"/>
          <p:nvPr/>
        </p:nvSpPr>
        <p:spPr>
          <a:xfrm>
            <a:off x="6883400" y="308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ID·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날짜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값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단위가 동일하다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2B4B939-5DBA-456F-9D1E-5B584229F160}"/>
              </a:ext>
            </a:extLst>
          </p:cNvPr>
          <p:cNvSpPr/>
          <p:nvPr/>
        </p:nvSpPr>
        <p:spPr>
          <a:xfrm>
            <a:off x="10922000" y="299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092AA0-930D-4ABA-9023-7B5EED364E46}"/>
              </a:ext>
            </a:extLst>
          </p:cNvPr>
          <p:cNvSpPr txBox="1"/>
          <p:nvPr/>
        </p:nvSpPr>
        <p:spPr>
          <a:xfrm>
            <a:off x="11010900" y="308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991DB97A-D3E7-4757-8A18-429A41EE7E85}"/>
              </a:ext>
            </a:extLst>
          </p:cNvPr>
          <p:cNvSpPr/>
          <p:nvPr/>
        </p:nvSpPr>
        <p:spPr>
          <a:xfrm>
            <a:off x="571500" y="363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6C29B0-FD62-4E45-BE0F-10552B1181CF}"/>
              </a:ext>
            </a:extLst>
          </p:cNvPr>
          <p:cNvSpPr txBox="1"/>
          <p:nvPr/>
        </p:nvSpPr>
        <p:spPr>
          <a:xfrm>
            <a:off x="660400" y="372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내보내기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C36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A5C7CE-EFF2-4EF3-98E1-6B2C06E3D0ED}"/>
              </a:ext>
            </a:extLst>
          </p:cNvPr>
          <p:cNvSpPr/>
          <p:nvPr/>
        </p:nvSpPr>
        <p:spPr>
          <a:xfrm>
            <a:off x="1905000" y="363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917E55-BEB6-441B-93FE-0A9D1AE44643}"/>
              </a:ext>
            </a:extLst>
          </p:cNvPr>
          <p:cNvSpPr txBox="1"/>
          <p:nvPr/>
        </p:nvSpPr>
        <p:spPr>
          <a:xfrm>
            <a:off x="1993900" y="372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/api/export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접속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57F186-715E-44FF-A9D4-BD4DB9816E91}"/>
              </a:ext>
            </a:extLst>
          </p:cNvPr>
          <p:cNvSpPr/>
          <p:nvPr/>
        </p:nvSpPr>
        <p:spPr>
          <a:xfrm>
            <a:off x="6794500" y="363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CF8BDE-2DC2-4038-A359-13156E476704}"/>
              </a:ext>
            </a:extLst>
          </p:cNvPr>
          <p:cNvSpPr txBox="1"/>
          <p:nvPr/>
        </p:nvSpPr>
        <p:spPr>
          <a:xfrm>
            <a:off x="6883400" y="372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JSON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파일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개가 내려받아진다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20479AC-0D41-4418-909C-4BF343D0D7D2}"/>
              </a:ext>
            </a:extLst>
          </p:cNvPr>
          <p:cNvSpPr/>
          <p:nvPr/>
        </p:nvSpPr>
        <p:spPr>
          <a:xfrm>
            <a:off x="10922000" y="363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CD4542F-6421-4875-8EC6-5B1D3AFD7084}"/>
              </a:ext>
            </a:extLst>
          </p:cNvPr>
          <p:cNvSpPr txBox="1"/>
          <p:nvPr/>
        </p:nvSpPr>
        <p:spPr>
          <a:xfrm>
            <a:off x="11010900" y="372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01E47ED-21A9-44EC-83FA-F7B30977E994}"/>
              </a:ext>
            </a:extLst>
          </p:cNvPr>
          <p:cNvSpPr/>
          <p:nvPr/>
        </p:nvSpPr>
        <p:spPr>
          <a:xfrm>
            <a:off x="571500" y="426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362EE8E-0C31-47B4-9CB6-09BA15C4D462}"/>
              </a:ext>
            </a:extLst>
          </p:cNvPr>
          <p:cNvSpPr txBox="1"/>
          <p:nvPr/>
        </p:nvSpPr>
        <p:spPr>
          <a:xfrm>
            <a:off x="660400" y="435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문자 안전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C57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DE18C09-23AC-4495-8807-F25A7BE2209B}"/>
              </a:ext>
            </a:extLst>
          </p:cNvPr>
          <p:cNvSpPr/>
          <p:nvPr/>
        </p:nvSpPr>
        <p:spPr>
          <a:xfrm>
            <a:off x="1905000" y="426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DAA4824-0F04-49F2-AE3D-6739ECAB6131}"/>
              </a:ext>
            </a:extLst>
          </p:cNvPr>
          <p:cNvSpPr txBox="1"/>
          <p:nvPr/>
        </p:nvSpPr>
        <p:spPr>
          <a:xfrm>
            <a:off x="1993900" y="435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스크립트 모양 글자 저장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C60E71B-1180-4002-B868-55A583FB762D}"/>
              </a:ext>
            </a:extLst>
          </p:cNvPr>
          <p:cNvSpPr/>
          <p:nvPr/>
        </p:nvSpPr>
        <p:spPr>
          <a:xfrm>
            <a:off x="6794500" y="426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51F5E8-6087-4F01-B961-06AEAC8C0DE8}"/>
              </a:ext>
            </a:extLst>
          </p:cNvPr>
          <p:cNvSpPr txBox="1"/>
          <p:nvPr/>
        </p:nvSpPr>
        <p:spPr>
          <a:xfrm>
            <a:off x="6883400" y="435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실행되지 않고 글자로 보인다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7F1C1BA-ADBC-40D1-BD46-B21827E74168}"/>
              </a:ext>
            </a:extLst>
          </p:cNvPr>
          <p:cNvSpPr/>
          <p:nvPr/>
        </p:nvSpPr>
        <p:spPr>
          <a:xfrm>
            <a:off x="10922000" y="426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69B313-F44B-4765-A082-2F944A808702}"/>
              </a:ext>
            </a:extLst>
          </p:cNvPr>
          <p:cNvSpPr txBox="1"/>
          <p:nvPr/>
        </p:nvSpPr>
        <p:spPr>
          <a:xfrm>
            <a:off x="11010900" y="435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DBAF75F9-3DBB-4D07-A42A-C0E27353CE96}"/>
              </a:ext>
            </a:extLst>
          </p:cNvPr>
          <p:cNvSpPr/>
          <p:nvPr/>
        </p:nvSpPr>
        <p:spPr>
          <a:xfrm>
            <a:off x="571500" y="490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7E7A5C-1FD0-4640-9BC7-70F5DD35A2F2}"/>
              </a:ext>
            </a:extLst>
          </p:cNvPr>
          <p:cNvSpPr txBox="1"/>
          <p:nvPr/>
        </p:nvSpPr>
        <p:spPr>
          <a:xfrm>
            <a:off x="660400" y="499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비밀값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C58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6DA6DB56-67E7-4CF9-B534-7B70EE0C5775}"/>
              </a:ext>
            </a:extLst>
          </p:cNvPr>
          <p:cNvSpPr/>
          <p:nvPr/>
        </p:nvSpPr>
        <p:spPr>
          <a:xfrm>
            <a:off x="1905000" y="490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FE6729-3250-4736-9E12-868A119C3606}"/>
              </a:ext>
            </a:extLst>
          </p:cNvPr>
          <p:cNvSpPr txBox="1"/>
          <p:nvPr/>
        </p:nvSpPr>
        <p:spPr>
          <a:xfrm>
            <a:off x="1993900" y="499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소스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네트워크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콘솔 검색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C669021-FF45-4B92-BBBA-05172C55E41A}"/>
              </a:ext>
            </a:extLst>
          </p:cNvPr>
          <p:cNvSpPr/>
          <p:nvPr/>
        </p:nvSpPr>
        <p:spPr>
          <a:xfrm>
            <a:off x="6794500" y="490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B2C171-D370-4ED0-BEE7-252F5346CCEE}"/>
              </a:ext>
            </a:extLst>
          </p:cNvPr>
          <p:cNvSpPr txBox="1"/>
          <p:nvPr/>
        </p:nvSpPr>
        <p:spPr>
          <a:xfrm>
            <a:off x="6883400" y="499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DB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접속 문자열이 없다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CCD39E16-717F-4F39-A595-17C62EAE19BA}"/>
              </a:ext>
            </a:extLst>
          </p:cNvPr>
          <p:cNvSpPr/>
          <p:nvPr/>
        </p:nvSpPr>
        <p:spPr>
          <a:xfrm>
            <a:off x="10922000" y="490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717BCDE-8830-4286-96A3-88DCCB68C732}"/>
              </a:ext>
            </a:extLst>
          </p:cNvPr>
          <p:cNvSpPr txBox="1"/>
          <p:nvPr/>
        </p:nvSpPr>
        <p:spPr>
          <a:xfrm>
            <a:off x="11010900" y="499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D20578A-B152-4827-B72C-064FA9618111}"/>
              </a:ext>
            </a:extLst>
          </p:cNvPr>
          <p:cNvSpPr/>
          <p:nvPr/>
        </p:nvSpPr>
        <p:spPr>
          <a:xfrm>
            <a:off x="571500" y="553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23D27BD-28EA-44F7-9579-7B47F6C9627D}"/>
              </a:ext>
            </a:extLst>
          </p:cNvPr>
          <p:cNvSpPr txBox="1"/>
          <p:nvPr/>
        </p:nvSpPr>
        <p:spPr>
          <a:xfrm>
            <a:off x="660400" y="562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공개 접근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C01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A0F16849-8F9F-4686-A76B-0A17F742E725}"/>
              </a:ext>
            </a:extLst>
          </p:cNvPr>
          <p:cNvSpPr/>
          <p:nvPr/>
        </p:nvSpPr>
        <p:spPr>
          <a:xfrm>
            <a:off x="1905000" y="553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34F84C-72FD-4C99-92B3-6CE10BA38256}"/>
              </a:ext>
            </a:extLst>
          </p:cNvPr>
          <p:cNvSpPr txBox="1"/>
          <p:nvPr/>
        </p:nvSpPr>
        <p:spPr>
          <a:xfrm>
            <a:off x="1993900" y="562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새 시크릿 창에서 결과물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소스 열기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C2DE1DBC-55C7-4179-86B3-2AFE4284AE12}"/>
              </a:ext>
            </a:extLst>
          </p:cNvPr>
          <p:cNvSpPr/>
          <p:nvPr/>
        </p:nvSpPr>
        <p:spPr>
          <a:xfrm>
            <a:off x="6794500" y="553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4AC1CD-734A-4B95-A7BF-79A67DA4E4B6}"/>
              </a:ext>
            </a:extLst>
          </p:cNvPr>
          <p:cNvSpPr txBox="1"/>
          <p:nvPr/>
        </p:nvSpPr>
        <p:spPr>
          <a:xfrm>
            <a:off x="6883400" y="562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인증 없이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HTTP 200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으로 열린다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E97360E-FBE8-4E1B-BA0B-CB14E031706D}"/>
              </a:ext>
            </a:extLst>
          </p:cNvPr>
          <p:cNvSpPr/>
          <p:nvPr/>
        </p:nvSpPr>
        <p:spPr>
          <a:xfrm>
            <a:off x="10922000" y="553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23A5B5A-EB9A-4B4B-9FFC-1AACB75CD8CD}"/>
              </a:ext>
            </a:extLst>
          </p:cNvPr>
          <p:cNvSpPr txBox="1"/>
          <p:nvPr/>
        </p:nvSpPr>
        <p:spPr>
          <a:xfrm>
            <a:off x="11010900" y="562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11EF191-E6E6-4AB3-A49A-4D4BCC86F1C3}"/>
              </a:ext>
            </a:extLst>
          </p:cNvPr>
          <p:cNvCxnSpPr/>
          <p:nvPr/>
        </p:nvCxnSpPr>
        <p:spPr>
          <a:xfrm>
            <a:off x="571500" y="6540500"/>
            <a:ext cx="11049000" cy="0"/>
          </a:xfrm>
          <a:prstGeom prst="line">
            <a:avLst/>
          </a:prstGeom>
          <a:ln w="9525">
            <a:solidFill>
              <a:srgbClr val="D8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84F22AB2-8837-4C5A-91FD-3BB3188EC141}"/>
              </a:ext>
            </a:extLst>
          </p:cNvPr>
          <p:cNvSpPr txBox="1"/>
          <p:nvPr/>
        </p:nvSpPr>
        <p:spPr>
          <a:xfrm>
            <a:off x="571500" y="6604000"/>
            <a:ext cx="2286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750" b="1">
                <a:solidFill>
                  <a:srgbClr val="146B58"/>
                </a:solidFill>
                <a:latin typeface="맑은 고딕" panose="020B0503020000020004" pitchFamily="50" charset="-127"/>
              </a:rPr>
              <a:t>PLAN · DO · SEE</a:t>
            </a:r>
            <a:endParaRPr lang="ko-KR" altLang="en-US" sz="7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4C98C07-5DA2-42C3-8D2C-B60CCD363906}"/>
              </a:ext>
            </a:extLst>
          </p:cNvPr>
          <p:cNvSpPr txBox="1"/>
          <p:nvPr/>
        </p:nvSpPr>
        <p:spPr>
          <a:xfrm>
            <a:off x="10414000" y="6604000"/>
            <a:ext cx="12065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750">
                <a:solidFill>
                  <a:srgbClr val="5F6F69"/>
                </a:solidFill>
                <a:latin typeface="맑은 고딕" panose="020B0503020000020004" pitchFamily="50" charset="-127"/>
              </a:rPr>
              <a:t>2026.09.01</a:t>
            </a:r>
            <a:endParaRPr lang="ko-KR" altLang="en-US" sz="75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03758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84AB6A-DD48-4ECF-9FA0-FC1B27E0CBC6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1/7 · C04~C08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B76358-3EEA-4E9F-8513-F457786A3428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계획과 수정 이력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97D8A0-1218-49BB-BF89-D89A4B41344E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기간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우선순위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예상 시간과 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DB 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트리거가 남긴 수정 이력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38839D-A5EF-4C24-8C32-4356C94E2885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C3604E2-8984-44AA-B12D-0C0BC56046F5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827276" y="1444752"/>
            <a:ext cx="85344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8299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B3D6FA-52D3-4EF7-B169-C420B09BE158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2/7 · C09~C22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DBA4CB-5471-4D64-AD77-325B1EF8D4EF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할 일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정렬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완료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9DE37D-2B31-495B-A581-5B8A7F95F21A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할 일 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5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건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검색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거르기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고정 정렬과 완료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되돌리기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309462-9E14-4B2A-9657-8C79A77C9A3B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FB680D0-0FAE-43D1-AF58-3C6597EDA22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107927" y="1444752"/>
            <a:ext cx="7973098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924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2736E9-027C-4AE1-9E98-085947146088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3/7 · C23~C27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D014BD-5F15-4865-ACBE-544B21F52E74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실행 기록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E0501F-57F2-4EB0-80E3-19E4326A877E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시작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종료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실제 시간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막힌 이유가 할 일에 연결된 기록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30A075-F0AE-462C-A089-F9FD6A75C68C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CF17969-897F-42A1-92E2-15E7D6AF4C9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439343" y="1444752"/>
            <a:ext cx="7310266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5626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E4DEC9-F707-4A2D-A426-631DA8BACA59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4/7 · C28~C33 · C83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B1C6D0-D20A-4A08-9BE8-1E17C3D5708A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돌아보기 집계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FE8371-5F09-4674-9A5D-A0AD866C8C17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계획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완료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지연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막힘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예상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실제 수치와 조회 기간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42FFB2-8017-46C8-A20D-5F79D5F17A4F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0A18568-8669-4551-B12D-796D7FA415C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827276" y="1444752"/>
            <a:ext cx="85344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5963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6D1877-428D-45CA-B8C7-A4EDE93A5BC5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5/7 · C83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8B31EC-171A-43B5-A22E-2C60533F4A72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집계 근거 목록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0CF0EA-CBA2-45E8-A4B2-3AADDAA31A89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완료 수 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과 같은 조건으로 조회한 근거 목록 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9C6B7C-CC33-4A8E-9111-C0A55679A505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0F5FA54-A40C-4ADA-A2C0-066EF251C31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827276" y="1444752"/>
            <a:ext cx="85344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8134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939AA0-167D-4E31-BDEC-888CC5291483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6/7 · C34~C35 · C78~C82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D24C0-5527-4139-AC2F-B13F9AFB7805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플래너와 공개 안내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7C5986-6E2A-437D-91EE-7CEB7A63D7F3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실제 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DB 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자료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날짜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분 단위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플래너와 로그인 없는 공개 안내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E3C88-E527-444D-AEF6-CC5D1AD14D82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7EDC3B0-29A2-43C6-BA01-777FCDC12AA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284000" y="1444752"/>
            <a:ext cx="7620953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899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54521C-65EE-41C2-BB87-1FC056D29ADA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7/7 · C57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8A2B11-53F1-45BA-A1FB-B9F004835BFA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스크립트 문자 안전 표시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EA20EA-0162-45A0-A149-7CBE998D16BC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스크립트 모양 입력이 실행되지 않고 화면에 글자 그대로 표시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47C170-9B7D-4F57-8551-609C0DA4EDF5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46996D9-E7FC-44ED-89B2-772A4F92E37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93273" y="1444752"/>
            <a:ext cx="7002407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2980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37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READY TO SUBMIT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1005840"/>
            <a:ext cx="5486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플랜두씨 다이어리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준비 완료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13232" y="2487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13232" y="27249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https://plan-do-see-diary.vercel.app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3232" y="3273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13232" y="3511296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github.com/stulss/plan-do-see-diary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13232" y="40599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40자리 고정 소스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629400" y="960120"/>
            <a:ext cx="4800600" cy="4480560"/>
          </a:xfrm>
          <a:prstGeom prst="roundRect">
            <a:avLst>
              <a:gd name="adj" fmla="val 1633"/>
            </a:avLst>
          </a:prstGeom>
          <a:solidFill>
            <a:srgbClr val="23483E"/>
          </a:solidFill>
          <a:ln w="12700">
            <a:solidFill>
              <a:srgbClr val="315A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67728" y="12984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30초 확인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6967728" y="1874520"/>
            <a:ext cx="411480" cy="411480"/>
          </a:xfrm>
          <a:prstGeom prst="ellipse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189280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571232" y="1874520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3F0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 주소를 로그인 없이 연다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67728" y="2624328"/>
            <a:ext cx="411480" cy="411480"/>
          </a:xfrm>
          <a:prstGeom prst="ellipse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67728" y="264261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571232" y="2624328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3F0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버튼을 연속으로 누른다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967728" y="3374136"/>
            <a:ext cx="411480" cy="411480"/>
          </a:xfrm>
          <a:prstGeom prst="ellipse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67728" y="339242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71232" y="3374136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3F0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돌아보기의 완료 수를 클릭한다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967728" y="4123944"/>
            <a:ext cx="411480" cy="411480"/>
          </a:xfrm>
          <a:prstGeom prst="ellipse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67728" y="414223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571232" y="4123944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4D6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+1, 근거 목록 건수 일치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995160" y="4892040"/>
            <a:ext cx="1965960" cy="310896"/>
          </a:xfrm>
          <a:prstGeom prst="round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95160" y="49057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P0–P7 COMPLETE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3232" y="603504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AC6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→ Do → See → Next Plan</a:t>
            </a:r>
            <a:endParaRPr lang="en-US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773165-256B-4BCF-8395-365A017A4CE3}"/>
              </a:ext>
            </a:extLst>
          </p:cNvPr>
          <p:cNvSpPr txBox="1"/>
          <p:nvPr/>
        </p:nvSpPr>
        <p:spPr>
          <a:xfrm>
            <a:off x="713232" y="4320571"/>
            <a:ext cx="6097022" cy="5078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indent="0">
              <a:buNone/>
              <a:defRPr sz="1350" b="1" u="sng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r>
              <a:rPr lang="en-US" altLang="ko-KR" sz="1600" i="0" dirty="0">
                <a:solidFill>
                  <a:schemeClr val="bg1"/>
                </a:solidFill>
                <a:effectLst/>
                <a:latin typeface="ui-monospace"/>
              </a:rPr>
              <a:t>https://github.com/stulss/plan-do-see-diary/commits/356a46034e94084caec3e17eaaf2ab8d98cef7ce/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1976</Words>
  <Application>Microsoft Office PowerPoint</Application>
  <PresentationFormat>와이드스크린</PresentationFormat>
  <Paragraphs>563</Paragraphs>
  <Slides>25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0" baseType="lpstr">
      <vt:lpstr>ui-monospace</vt:lpstr>
      <vt:lpstr>맑은 고딕</vt:lpstr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Plan Do See Diary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플랜두씨 다이어리 — 과제 6 제출 보고서</dc:title>
  <dc:subject>과제 6 플랜두씨 다이어리 제출 보고서</dc:subject>
  <dc:creator>stuls · OpenAI Codex</dc:creator>
  <cp:lastModifiedBy>홍주형</cp:lastModifiedBy>
  <cp:revision>10</cp:revision>
  <dcterms:created xsi:type="dcterms:W3CDTF">2026-09-01T01:02:27Z</dcterms:created>
  <dcterms:modified xsi:type="dcterms:W3CDTF">2026-09-01T02:25:45Z</dcterms:modified>
</cp:coreProperties>
</file>