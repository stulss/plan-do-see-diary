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image" Target="../media/image-23-3.jpg"/><Relationship Id="rId4" Type="http://schemas.openxmlformats.org/officeDocument/2006/relationships/image" Target="../media/image-23-4.jpg"/><Relationship Id="rId5" Type="http://schemas.openxmlformats.org/officeDocument/2006/relationships/image" Target="../media/image-23-5.jpg"/><Relationship Id="rId6" Type="http://schemas.openxmlformats.org/officeDocument/2006/relationships/image" Target="../media/image-23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7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">
            <a:off x="7863840" y="-914400"/>
            <a:ext cx="5120640" cy="5120640"/>
          </a:xfrm>
          <a:prstGeom prst="arc">
            <a:avLst/>
          </a:prstGeom>
          <a:solidFill>
            <a:srgbClr val="146B58">
              <a:alpha val="90000"/>
            </a:srgbClr>
          </a:solidFill>
          <a:ln w="12700">
            <a:solidFill>
              <a:srgbClr val="146B5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389120"/>
            <a:ext cx="2651760" cy="2651760"/>
          </a:xfrm>
          <a:prstGeom prst="ellipse">
            <a:avLst/>
          </a:prstGeom>
          <a:solidFill>
            <a:srgbClr val="C58B2A">
              <a:alpha val="97000"/>
            </a:srgbClr>
          </a:solidFill>
          <a:ln w="12700">
            <a:solidFill>
              <a:srgbClr val="C58B2A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67665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spc="230" kern="0" dirty="0">
                <a:solidFill>
                  <a:srgbClr val="EACB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ASSIGNMENT 07 · FINAL REPORT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170432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잠긴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플랜두씨 다이어리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3063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BFD6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기록을 나만 보게 만들기 — 가입·로그인·서버 세션·사용자별 자료 차단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85800" y="3611880"/>
            <a:ext cx="2834640" cy="0"/>
          </a:xfrm>
          <a:prstGeom prst="line">
            <a:avLst/>
          </a:prstGeom>
          <a:noFill/>
          <a:ln w="25400">
            <a:solidFill>
              <a:srgbClr val="C58B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886200"/>
            <a:ext cx="758952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D6E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6 다이어리를 지우지 않고 같은 저장소·배포·DB에서 이어 개발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D6E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bcrypt(cost 12) 비밀번호 · DB에 SHA-256만 남는 폐기 가능한 서버 세션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D6E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세션에서만 사용자를 정하고, 남의 자료는 양방향 모두 404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D6E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5일 실제 사용으로 계획 규칙 변경 전후의 시간 오차율 비교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5800" y="587044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EACB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https://plan-do-see-diary.vercel.app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" y="619963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8FB0A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보여 드리는가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근거 → 구현 → 검증 → 실제 사용 결과 → 한계 순서로 이어집니다.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1783080"/>
            <a:ext cx="3520440" cy="54864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201168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설계와 구조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2423160"/>
            <a:ext cx="3063240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결과물과 고정 소스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과제 6에서 이어받은 것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기술 스택과 계층 구조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데이터베이스 여덟 개 표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 무중단 4단계 마이그레이션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 인증 설계 결정 네 가지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97680" y="178308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97680" y="1783080"/>
            <a:ext cx="3520440" cy="54864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6280" y="201168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구현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26280" y="2423160"/>
            <a:ext cx="3063240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 설명서 ① ② ③ — 무엇으로·왜·흐름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가입·로그인·로그아웃 흐름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 비밀번호 규칙과 중복 확인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 세션 수명주기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 소유권 강제 구조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 응답 DTO 계층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 설명서 ⑤ ⑥ — 규칙과 못 막은 것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28432" y="178308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28432" y="1783080"/>
            <a:ext cx="3520440" cy="54864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57032" y="201168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검증과 결과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257032" y="2423160"/>
            <a:ext cx="3063240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 자동 검사 28건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  공개 배포 검증 결과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  30초 점검 목록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  5일 사용 결과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 손계산 대조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21~24  실제 화면 증거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 트러블슈팅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  결정 기록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 AI와 남은 제한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DELIVERABLES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 결과물과 고정 소스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심사자가 계정 없이 열 수 있는 공개 주소와, 그 시점의 소스를 가리키는 고정 URL.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1737360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856232"/>
            <a:ext cx="234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28건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768096" y="2313432"/>
            <a:ext cx="2340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검사 통과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64992" y="17373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64992" y="1737360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1856232"/>
            <a:ext cx="234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3566160" y="2313432"/>
            <a:ext cx="2340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 계정 자료 유출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63056" y="17373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63056" y="1737360"/>
            <a:ext cx="73152" cy="960120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64224" y="1856232"/>
            <a:ext cx="234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6364224" y="2313432"/>
            <a:ext cx="2340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비밀값 노출 (로컬·Git 이력)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61120" y="17373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961120" y="1737360"/>
            <a:ext cx="73152" cy="960120"/>
          </a:xfrm>
          <a:prstGeom prst="rect">
            <a:avLst/>
          </a:prstGeom>
          <a:solidFill>
            <a:srgbClr val="D36B55"/>
          </a:solidFill>
          <a:ln w="12700">
            <a:solidFill>
              <a:srgbClr val="D36B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62288" y="1856232"/>
            <a:ext cx="234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404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9162288" y="2313432"/>
            <a:ext cx="2340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남의 자료 요청 응답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2971800"/>
            <a:ext cx="110185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" y="3154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77240" y="3474720"/>
            <a:ext cx="10607040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결과물 — https://plan-do-see-diary.vercel.app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저장소 — https://github.com/stulss/plan-do-see-diary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구현 설명서 — docs/과제7/인증_구현_설명서.md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안내서 — docs/과제7/검증안내서.md   ·   AI 3줄 — docs/과제7/AI_3줄.md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5일 사용 기록 — docs/과제7/5일_사용기록.md   ·   증거 색인 — docs/과제7/evidence/README.md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77240" y="4937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 시점 고정 URL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77240" y="52578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github.com/stulss/plan-do-see-diary/commits/db812fcd548f19cc4e4da82ea06063f40e21ee87/   (문서 포함 전체 상태)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github.com/stulss/plan-do-see-diary/commits/67698889bfa7afbb3be1add85e39df65791c29b7/   (전체 자료 API DTO 보강)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CONTINUITY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6을 지우지 않고 같은 자리에서 이어 만들었다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프로젝트를 파는 대신 기존 자료를 보존하고 소유자를 붙이는 쪽을 골랐다.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534924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 이어 쓴 것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286000"/>
            <a:ext cx="489204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GitHub 저장소와 main 브랜치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Vercel 프로젝트와 배포 주소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Supabase PostgreSQL 데이터베이스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계획·할 일·실행 기록·돌아보기 구조 전부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36208" y="1783080"/>
            <a:ext cx="5349240" cy="2286000"/>
          </a:xfrm>
          <a:prstGeom prst="roundRect">
            <a:avLst>
              <a:gd name="adj" fmla="val 3200"/>
            </a:avLst>
          </a:prstGeom>
          <a:solidFill>
            <a:srgbClr val="FDF1EE"/>
          </a:solidFill>
          <a:ln w="12700">
            <a:solidFill>
              <a:srgbClr val="D36B55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4652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지우지 않기로 정한 것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46520" y="2286000"/>
            <a:ext cx="489204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6 문서·보고서·증거 (docs/, reports/)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6 진행 기록 작업내역_체크리스트.md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계획 2건·할 일 5건·돌아보기 1건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7 산출물은 docs/과제7/ 에 따로 쌓았다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297680"/>
            <a:ext cx="11018520" cy="1874520"/>
          </a:xfrm>
          <a:prstGeom prst="roundRect">
            <a:avLst>
              <a:gd name="adj" fmla="val 3902"/>
            </a:avLst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4480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이력으로 증명한 연속성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7240" y="48006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6 최종 승인본의 고정 commit 356a46034e94084caec3e17eaaf2ab8d98cef7ce 가 현재 main 이력의 조상인지를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 merge-base --is-ancestor 로 확인했다. 과제 7의 모든 커밋은 그 위에 쌓여 있다 (T07-C78).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553212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자료는 사용자가 직접 만든 소유자 계정에 귀속했고, 귀속되지 않은 행이 0건임을 확인한 뒤에 user_id 를 NOT NULL 로 바꿨다.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STACK &amp; LAYERS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프로젝트 안에 화면과 API 를 두고, 서버만 DB 에 연결한다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브라우저에는 DB 접속 문자열이 내려가지 않는다. 비밀값을 NEXT_PUBLIC_* 로 두지 않는다.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68096" y="1920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16.3.3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68096" y="22402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 Router · 화면과 API 라우트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297680" y="1783080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98848" y="1920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18.3.1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498848" y="22402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컴포넌트 중심 렌더링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028432" y="1783080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29600" y="1920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 3.4.7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0" y="22402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매개변수 바인딩 SQL 클라이언트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566928" y="2880360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68096" y="3017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bcryptjs 3.0.3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68096" y="33375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해시 (cost 12)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4297680" y="2880360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498848" y="3017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PostgreSQL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498848" y="33375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관리형 DB · Asia/Seoul 표시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8028432" y="2880360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29600" y="3017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0" y="33375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배포 · 서버리스 함수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566928" y="4069080"/>
            <a:ext cx="110185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7724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MVC 계층과 책임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77240" y="4617720"/>
            <a:ext cx="1975104" cy="1051560"/>
          </a:xfrm>
          <a:prstGeom prst="roundRect">
            <a:avLst>
              <a:gd name="adj" fmla="val 6957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6968" y="4754880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app/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86968" y="507492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화면·API 라우트</a:t>
            </a:r>
            <a:endParaRPr lang="en-US" sz="1020" dirty="0"/>
          </a:p>
        </p:txBody>
      </p:sp>
      <p:sp>
        <p:nvSpPr>
          <p:cNvPr id="29" name="Shape 27"/>
          <p:cNvSpPr/>
          <p:nvPr/>
        </p:nvSpPr>
        <p:spPr>
          <a:xfrm>
            <a:off x="2935224" y="4617720"/>
            <a:ext cx="1975104" cy="1051560"/>
          </a:xfrm>
          <a:prstGeom prst="roundRect">
            <a:avLst>
              <a:gd name="adj" fmla="val 6957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044952" y="4754880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lib/service/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3044952" y="507492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절차</a:t>
            </a:r>
            <a:endParaRPr lang="en-US" sz="1020" dirty="0"/>
          </a:p>
        </p:txBody>
      </p:sp>
      <p:sp>
        <p:nvSpPr>
          <p:cNvPr id="32" name="Shape 30"/>
          <p:cNvSpPr/>
          <p:nvPr/>
        </p:nvSpPr>
        <p:spPr>
          <a:xfrm>
            <a:off x="5093208" y="4617720"/>
            <a:ext cx="1975104" cy="1051560"/>
          </a:xfrm>
          <a:prstGeom prst="roundRect">
            <a:avLst>
              <a:gd name="adj" fmla="val 6957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02936" y="4754880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lib/repository/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202936" y="507492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사용자·세션 조회</a:t>
            </a:r>
            <a:endParaRPr lang="en-US" sz="1020" dirty="0"/>
          </a:p>
        </p:txBody>
      </p:sp>
      <p:sp>
        <p:nvSpPr>
          <p:cNvPr id="35" name="Shape 33"/>
          <p:cNvSpPr/>
          <p:nvPr/>
        </p:nvSpPr>
        <p:spPr>
          <a:xfrm>
            <a:off x="7251192" y="4617720"/>
            <a:ext cx="1975104" cy="1051560"/>
          </a:xfrm>
          <a:prstGeom prst="roundRect">
            <a:avLst>
              <a:gd name="adj" fmla="val 6957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60920" y="4754880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lib/domain/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360920" y="507492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규칙·조건 생성</a:t>
            </a:r>
            <a:endParaRPr lang="en-US" sz="1020" dirty="0"/>
          </a:p>
        </p:txBody>
      </p:sp>
      <p:sp>
        <p:nvSpPr>
          <p:cNvPr id="38" name="Shape 36"/>
          <p:cNvSpPr/>
          <p:nvPr/>
        </p:nvSpPr>
        <p:spPr>
          <a:xfrm>
            <a:off x="9409176" y="4617720"/>
            <a:ext cx="1975104" cy="1051560"/>
          </a:xfrm>
          <a:prstGeom prst="roundRect">
            <a:avLst>
              <a:gd name="adj" fmla="val 6957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518904" y="4754880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lib/dto/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9518904" y="507492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화이트리스트</a:t>
            </a:r>
            <a:endParaRPr lang="en-US" sz="1020" dirty="0"/>
          </a:p>
        </p:txBody>
      </p:sp>
      <p:sp>
        <p:nvSpPr>
          <p:cNvPr id="41" name="Text 39"/>
          <p:cNvSpPr/>
          <p:nvPr/>
        </p:nvSpPr>
        <p:spPr>
          <a:xfrm>
            <a:off x="777240" y="577900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의 모든 함수가 user_id 를 받게 만들면, 소유자 조건을 빠뜨릴 자리 자체가 없어진다.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DATABASE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 여덟 개 — 여섯 개는 과제 6, 두 개는 과제 7에서 추가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6 표를 지우지 않고 소유자 컬럼만 덧붙였다.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251460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81051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081528" y="1783080"/>
            <a:ext cx="635508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392" y="1810512"/>
            <a:ext cx="6245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436608" y="1783080"/>
            <a:ext cx="214884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91472" y="1810512"/>
            <a:ext cx="2039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소유자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85416"/>
            <a:ext cx="251460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" y="2203704"/>
            <a:ext cx="238658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3081528" y="2185416"/>
            <a:ext cx="635508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45536" y="2203704"/>
            <a:ext cx="622706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계획. 제목·기간·우선순위·성공 기준·예상 시간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9436608" y="2185416"/>
            <a:ext cx="214884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00616" y="2203704"/>
            <a:ext cx="202082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user_id NOT NULL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566928" y="2676906"/>
            <a:ext cx="251460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" y="2695194"/>
            <a:ext cx="238658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plan_revision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3081528" y="2676906"/>
            <a:ext cx="635508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45536" y="2695194"/>
            <a:ext cx="622706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수정 이력. DB 트리거가 자동 적재한다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9436608" y="2676906"/>
            <a:ext cx="214884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00616" y="2695194"/>
            <a:ext cx="202082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경유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566928" y="3168396"/>
            <a:ext cx="251460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186684"/>
            <a:ext cx="238658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3081528" y="3168396"/>
            <a:ext cx="635508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5536" y="3186684"/>
            <a:ext cx="622706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일. 마감일·시작/마감 시각·태그·소프트 삭제</a:t>
            </a:r>
            <a:endParaRPr lang="en-US" sz="980" dirty="0"/>
          </a:p>
        </p:txBody>
      </p:sp>
      <p:sp>
        <p:nvSpPr>
          <p:cNvPr id="28" name="Shape 26"/>
          <p:cNvSpPr/>
          <p:nvPr/>
        </p:nvSpPr>
        <p:spPr>
          <a:xfrm>
            <a:off x="9436608" y="3168396"/>
            <a:ext cx="214884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500616" y="3186684"/>
            <a:ext cx="202082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user_id NOT NULL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566928" y="3659886"/>
            <a:ext cx="251460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" y="3678174"/>
            <a:ext cx="238658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task_completion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3081528" y="3659886"/>
            <a:ext cx="635508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145536" y="3678174"/>
            <a:ext cx="622706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표시. task_id 가 기본키라 중복이 불가능하다</a:t>
            </a:r>
            <a:endParaRPr lang="en-US" sz="980" dirty="0"/>
          </a:p>
        </p:txBody>
      </p:sp>
      <p:sp>
        <p:nvSpPr>
          <p:cNvPr id="34" name="Shape 32"/>
          <p:cNvSpPr/>
          <p:nvPr/>
        </p:nvSpPr>
        <p:spPr>
          <a:xfrm>
            <a:off x="9436608" y="3659886"/>
            <a:ext cx="214884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500616" y="3678174"/>
            <a:ext cx="202082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경유</a:t>
            </a:r>
            <a:endParaRPr lang="en-US" sz="980" dirty="0"/>
          </a:p>
        </p:txBody>
      </p:sp>
      <p:sp>
        <p:nvSpPr>
          <p:cNvPr id="36" name="Shape 34"/>
          <p:cNvSpPr/>
          <p:nvPr/>
        </p:nvSpPr>
        <p:spPr>
          <a:xfrm>
            <a:off x="566928" y="4151376"/>
            <a:ext cx="251460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0936" y="4169664"/>
            <a:ext cx="238658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run_log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3081528" y="4151376"/>
            <a:ext cx="635508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145536" y="4169664"/>
            <a:ext cx="622706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기록. plan·task 를 절대 수정하지 않는다</a:t>
            </a:r>
            <a:endParaRPr lang="en-US" sz="980" dirty="0"/>
          </a:p>
        </p:txBody>
      </p:sp>
      <p:sp>
        <p:nvSpPr>
          <p:cNvPr id="40" name="Shape 38"/>
          <p:cNvSpPr/>
          <p:nvPr/>
        </p:nvSpPr>
        <p:spPr>
          <a:xfrm>
            <a:off x="9436608" y="4151376"/>
            <a:ext cx="214884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500616" y="4169664"/>
            <a:ext cx="202082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경유</a:t>
            </a:r>
            <a:endParaRPr lang="en-US" sz="980" dirty="0"/>
          </a:p>
        </p:txBody>
      </p:sp>
      <p:sp>
        <p:nvSpPr>
          <p:cNvPr id="42" name="Shape 40"/>
          <p:cNvSpPr/>
          <p:nvPr/>
        </p:nvSpPr>
        <p:spPr>
          <a:xfrm>
            <a:off x="566928" y="4642866"/>
            <a:ext cx="251460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0936" y="4661154"/>
            <a:ext cx="238658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review</a:t>
            </a:r>
            <a:endParaRPr lang="en-US" sz="980" dirty="0"/>
          </a:p>
        </p:txBody>
      </p:sp>
      <p:sp>
        <p:nvSpPr>
          <p:cNvPr id="44" name="Shape 42"/>
          <p:cNvSpPr/>
          <p:nvPr/>
        </p:nvSpPr>
        <p:spPr>
          <a:xfrm>
            <a:off x="3081528" y="4642866"/>
            <a:ext cx="635508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145536" y="4661154"/>
            <a:ext cx="622706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돌아보기. 기간별 다음 행동 한 줄</a:t>
            </a:r>
            <a:endParaRPr lang="en-US" sz="980" dirty="0"/>
          </a:p>
        </p:txBody>
      </p:sp>
      <p:sp>
        <p:nvSpPr>
          <p:cNvPr id="46" name="Shape 44"/>
          <p:cNvSpPr/>
          <p:nvPr/>
        </p:nvSpPr>
        <p:spPr>
          <a:xfrm>
            <a:off x="9436608" y="4642866"/>
            <a:ext cx="214884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500616" y="4661154"/>
            <a:ext cx="202082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user_id NOT NULL</a:t>
            </a:r>
            <a:endParaRPr lang="en-US" sz="980" dirty="0"/>
          </a:p>
        </p:txBody>
      </p:sp>
      <p:sp>
        <p:nvSpPr>
          <p:cNvPr id="48" name="Shape 46"/>
          <p:cNvSpPr/>
          <p:nvPr/>
        </p:nvSpPr>
        <p:spPr>
          <a:xfrm>
            <a:off x="566928" y="5134356"/>
            <a:ext cx="251460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936" y="5152644"/>
            <a:ext cx="238658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app_user  (과제 7)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3081528" y="5134356"/>
            <a:ext cx="635508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145536" y="5152644"/>
            <a:ext cx="622706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계정. 아이디·닉네임·이메일 lower() 유니크 3개</a:t>
            </a:r>
            <a:endParaRPr lang="en-US" sz="980" dirty="0"/>
          </a:p>
        </p:txBody>
      </p:sp>
      <p:sp>
        <p:nvSpPr>
          <p:cNvPr id="52" name="Shape 50"/>
          <p:cNvSpPr/>
          <p:nvPr/>
        </p:nvSpPr>
        <p:spPr>
          <a:xfrm>
            <a:off x="9436608" y="5134356"/>
            <a:ext cx="214884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500616" y="5152644"/>
            <a:ext cx="202082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</a:t>
            </a:r>
            <a:endParaRPr lang="en-US" sz="980" dirty="0"/>
          </a:p>
        </p:txBody>
      </p:sp>
      <p:sp>
        <p:nvSpPr>
          <p:cNvPr id="54" name="Shape 52"/>
          <p:cNvSpPr/>
          <p:nvPr/>
        </p:nvSpPr>
        <p:spPr>
          <a:xfrm>
            <a:off x="566928" y="5625846"/>
            <a:ext cx="251460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936" y="5644134"/>
            <a:ext cx="238658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user_session  (과제 7)</a:t>
            </a:r>
            <a:endParaRPr lang="en-US" sz="980" dirty="0"/>
          </a:p>
        </p:txBody>
      </p:sp>
      <p:sp>
        <p:nvSpPr>
          <p:cNvPr id="56" name="Shape 54"/>
          <p:cNvSpPr/>
          <p:nvPr/>
        </p:nvSpPr>
        <p:spPr>
          <a:xfrm>
            <a:off x="3081528" y="5625846"/>
            <a:ext cx="635508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145536" y="5644134"/>
            <a:ext cx="622706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세션. 토큰의 SHA-256 해시와 만료 시각만 저장</a:t>
            </a:r>
            <a:endParaRPr lang="en-US" sz="980" dirty="0"/>
          </a:p>
        </p:txBody>
      </p:sp>
      <p:sp>
        <p:nvSpPr>
          <p:cNvPr id="58" name="Shape 56"/>
          <p:cNvSpPr/>
          <p:nvPr/>
        </p:nvSpPr>
        <p:spPr>
          <a:xfrm>
            <a:off x="9436608" y="5625846"/>
            <a:ext cx="214884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500616" y="5644134"/>
            <a:ext cx="202082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user_id</a:t>
            </a:r>
            <a:endParaRPr lang="en-US" sz="980" dirty="0"/>
          </a:p>
        </p:txBody>
      </p:sp>
      <p:sp>
        <p:nvSpPr>
          <p:cNvPr id="60" name="Text 58"/>
          <p:cNvSpPr/>
          <p:nvPr/>
        </p:nvSpPr>
        <p:spPr>
          <a:xfrm>
            <a:off x="566928" y="6080760"/>
            <a:ext cx="1101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컬럼이 응답에 자동으로 실려 나가지 않도록, 모든 자료 API 는 lib/dto/ 의 화이트리스트를 거친다.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MIGRATION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중인 앱을 깨뜨리지 않고 소유자 컬럼을 붙이는 순서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인증판 배포 전까지 과제 6 앱은 user_id 없이 INSERT 한다. 그래서 순서가 중요하다.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1783080"/>
            <a:ext cx="2651760" cy="64008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116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NULL 허용 추가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3774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user_id 를 NULL 허용으로 만든다.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앱은 그대로 동작한다.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3419856" y="1783080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19856" y="1783080"/>
            <a:ext cx="2651760" cy="64008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02736" y="20116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기존 자료 귀속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602736" y="23774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소유자 계정을 만들고 기존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계획·할 일·돌아보기를 귀속한다.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6272784" y="1783080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72784" y="1783080"/>
            <a:ext cx="2651760" cy="64008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55664" y="20116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임시 DEFAULT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55664" y="23774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소유자 id 를 기본값으로 걸어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구버전 INSERT 도 깨지지 않게 한다.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9125712" y="1783080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125712" y="1783080"/>
            <a:ext cx="2651760" cy="64008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08592" y="20116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NOT NULL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308592" y="23774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미귀속 0건을 확인한 뒤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NULL 을 적용한다.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566928" y="3703320"/>
            <a:ext cx="5349240" cy="2468880"/>
          </a:xfrm>
          <a:prstGeom prst="roundRect">
            <a:avLst>
              <a:gd name="adj" fmla="val 2963"/>
            </a:avLst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" y="3886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직후 5단계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77240" y="4224528"/>
            <a:ext cx="4892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인증판을 배포한 뒤 임시 DEFAULT 를 DROP 했다.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소유자 없이 자료를 만드는 경로가 아예 존재하지 않는다.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plan·task·review 세 컬럼 모두 NOT NULL 이고 기본값이 없음을 실제 DB 에서 확인했다.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36208" y="3703320"/>
            <a:ext cx="5349240" cy="2468880"/>
          </a:xfrm>
          <a:prstGeom prst="roundRect">
            <a:avLst>
              <a:gd name="adj" fmla="val 2963"/>
            </a:avLst>
          </a:prstGeom>
          <a:solidFill>
            <a:srgbClr val="FDF1EE"/>
          </a:solidFill>
          <a:ln w="12700">
            <a:solidFill>
              <a:srgbClr val="D36B55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46520" y="3886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겪은 문제 — DDL 락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446520" y="4224528"/>
            <a:ext cx="4892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마이그레이션을 연속으로 두 번 시작해 두 프로세스가 DDL 락을 서로 기다리며 끝나지 않았다.</a:t>
            </a:r>
            <a:endParaRPr lang="en-US" sz="1120" dirty="0"/>
          </a:p>
          <a:p>
            <a:pPr indent="0" marL="0">
              <a:buNone/>
            </a:pP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해결: 적용 상태 사전 검사와 connect_timeout 15초 · lock_timeout 10초 · statement_timeout 60초 를 걸고, 한 프로세스만 한 트랜잭션으로 실행한다.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 DECISIONS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가지 결정이 과제의 요구를 그대로 만족시킨다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"로그아웃하면 이전 값이 안 통한다"를 만들려면 서버가 세션을 폐기할 수 있어야 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1783080"/>
            <a:ext cx="64008" cy="2103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9842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구현한 서버 세션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404872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Auth.js 는 Credentials 를 쓰면 세션이 JWT 로 고정되어 폐기할 수 없다. Supabase Auth 는 로그아웃 뒤에도 토큰이 만료 전까지 유효하다.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341071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로그아웃 = DB 행 삭제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44768" y="178308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44768" y="1783080"/>
            <a:ext cx="64008" cy="2103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9842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bcrypt (cost 12)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0" y="2404872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계정마다 소금값을 자동 생성·포함한다. 순수 JS 라 서버리스에서 네이티브 빌드가 필요 없다.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00800" y="341071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비밀번호도 해시가 다름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11480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66928" y="4114800"/>
            <a:ext cx="64008" cy="2103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3159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불투명 난수 세션 토큰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2960" y="4736592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쿠키에는 의미 없는 난수만 담고 DB 에는 SHA-256 해시만 남긴다. 서명키가 아예 존재하지 않는다.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22960" y="57424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DB 유출로도 도용 불가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44768" y="411480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144768" y="4114800"/>
            <a:ext cx="64008" cy="2103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43159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DTO 화이트리스트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00800" y="4736592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행을 그대로 내보내지 않는다. 새 컬럼이 자동으로 실려 나가는 사고를 구조가 막는다.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0" y="57424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user_id·deleted_at 미노출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GUIDE ① ② ③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무엇으로 붙였고, 왜 그것을 골랐고, 어디를 지나는가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docs/과제7/인증_구현_설명서.md 의 ①~③ 을 그대로 옮겼다 (T07-C127~C129).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2044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9019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무엇으로 붙였는가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240280"/>
            <a:ext cx="310896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1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방식 — 직접 구현한 서버 DB 세션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1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— bcryptjs 3.0.3, cost 12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1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— Next.js 16.3.3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1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입력 — 아이디와 비밀번호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35204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브라우저에는 불투명 세션 값을 HttpOnly 쿠키로 보내고, DB 에는 그 값의 SHA-256 해시와 7일 만료 시각만 저장한다.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315968" y="1737360"/>
            <a:ext cx="352044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26280" y="19019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왜 이 방법을 골랐는가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26280" y="22402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bcryptjs 는 계정마다 임의 소금값을 자동 포함하고 서버리스에서 네이티브 빌드가 필요 없다. DB 세션은 로그아웃·비밀번호 변경 즉시 행을 지워 이전 세션을 폐기할 수 있다.</a:t>
            </a:r>
            <a:endParaRPr lang="en-US" sz="1080" dirty="0"/>
          </a:p>
        </p:txBody>
      </p:sp>
      <p:sp>
        <p:nvSpPr>
          <p:cNvPr id="13" name="Text 11"/>
          <p:cNvSpPr/>
          <p:nvPr/>
        </p:nvSpPr>
        <p:spPr>
          <a:xfrm>
            <a:off x="4526280" y="312724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검토했지만 고르지 않은 것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26280" y="3383280"/>
            <a:ext cx="310896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Auth.js Credentials — JWT 세션이라 즉시 폐기가 어렵다</a:t>
            </a:r>
            <a:endParaRPr lang="en-US" sz="980" dirty="0"/>
          </a:p>
          <a:p>
            <a:pPr marL="177800" indent="-177800">
              <a:buSzPct val="100000"/>
              <a:buChar char="•"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Auth — 토큰 만료 전 즉시 차단을 따로 설계해야 한다</a:t>
            </a:r>
            <a:endParaRPr lang="en-US" sz="980" dirty="0"/>
          </a:p>
          <a:p>
            <a:pPr marL="177800" indent="-177800">
              <a:buSzPct val="100000"/>
              <a:buChar char="•"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express-session — App Router 에 별도 서버·어댑터가 필요하다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8065008" y="1737360"/>
            <a:ext cx="3520440" cy="2697480"/>
          </a:xfrm>
          <a:prstGeom prst="roundRect">
            <a:avLst>
              <a:gd name="adj" fmla="val 2712"/>
            </a:avLst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75320" y="19019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흐름과 핵심 소스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75320" y="2240280"/>
            <a:ext cx="31089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  /signup → POST /api/auth/signup</a:t>
            </a:r>
            <a:endParaRPr lang="en-US" sz="960" dirty="0"/>
          </a:p>
          <a:p>
            <a:pPr indent="0" marL="0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→ service/auth → repository/user</a:t>
            </a:r>
            <a:endParaRPr lang="en-US" sz="960" dirty="0"/>
          </a:p>
          <a:p>
            <a:pPr indent="0" marL="0">
              <a:buNone/>
            </a:pPr>
            <a:endParaRPr lang="en-US" sz="960" dirty="0"/>
          </a:p>
          <a:p>
            <a:pPr indent="0" marL="0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  /login → POST /api/auth/login</a:t>
            </a:r>
            <a:endParaRPr lang="en-US" sz="960" dirty="0"/>
          </a:p>
          <a:p>
            <a:pPr indent="0" marL="0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→ service/auth → lib/session</a:t>
            </a:r>
            <a:endParaRPr lang="en-US" sz="960" dirty="0"/>
          </a:p>
          <a:p>
            <a:pPr indent="0" marL="0">
              <a:buNone/>
            </a:pPr>
            <a:endParaRPr lang="en-US" sz="960" dirty="0"/>
          </a:p>
          <a:p>
            <a:pPr indent="0" marL="0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로그아웃   POST /api/auth/logout</a:t>
            </a:r>
            <a:endParaRPr lang="en-US" sz="960" dirty="0"/>
          </a:p>
          <a:p>
            <a:pPr indent="0" marL="0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→ lib/session → repository/session</a:t>
            </a:r>
            <a:endParaRPr lang="en-US" sz="960" dirty="0"/>
          </a:p>
          <a:p>
            <a:pPr indent="0" marL="0">
              <a:buNone/>
            </a:pPr>
            <a:endParaRPr lang="en-US" sz="960" dirty="0"/>
          </a:p>
          <a:p>
            <a:pPr indent="0" marL="0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조회   middleware → lib/session</a:t>
            </a:r>
            <a:endParaRPr lang="en-US" sz="960" dirty="0"/>
          </a:p>
          <a:p>
            <a:pPr indent="0" marL="0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→ domain/query → lib/dto/records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566928" y="4617720"/>
            <a:ext cx="11018520" cy="1554480"/>
          </a:xfrm>
          <a:prstGeom prst="roundRect">
            <a:avLst>
              <a:gd name="adj" fmla="val 4706"/>
            </a:avLst>
          </a:prstGeom>
          <a:solidFill>
            <a:srgbClr val="F7F3E8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772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흐름이 공통으로 지키는 것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77240" y="510235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ID 는 URL·헤더·요청 본문에서 받지 않고 검증된 세션에서만 정한다.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 조회·수정·삭제도 id 와 user_id 를 함께 조건으로 써서, 남의 자료의 존재를 드러내지 않는 404 를 돌려준다.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" y="58064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기록에는 아이디·이메일·비밀번호·세션 쿠키·DB 접속 문자열 원문을 남기지 않았다. 일회성 검증 계정과 자료는 검증 직후 삭제했다.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· 로그인 · 로그아웃 · 자료 조회가 지나는 길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흐름 모두 마지막에는 세션과 소유자 조건을 지난다.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2651760" cy="43891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1783080"/>
            <a:ext cx="2651760" cy="64008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116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49808" y="2423160"/>
            <a:ext cx="2286000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아이디·닉네임·이메일·비밀번호 4칸</a:t>
            </a:r>
            <a:endParaRPr lang="en-US" sz="1080" dirty="0"/>
          </a:p>
          <a:p>
            <a:pPr marL="177800" indent="-177800">
              <a:buSzPct val="100000"/>
              <a:buChar char="•"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검사를 서버에서 다시 한다</a:t>
            </a:r>
            <a:endParaRPr lang="en-US" sz="1080" dirty="0"/>
          </a:p>
          <a:p>
            <a:pPr marL="177800" indent="-177800">
              <a:buSzPct val="100000"/>
              <a:buChar char="•"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bcrypt(cost 12) 로 해시해 저장</a:t>
            </a:r>
            <a:endParaRPr lang="en-US" sz="1080" dirty="0"/>
          </a:p>
          <a:p>
            <a:pPr marL="177800" indent="-177800">
              <a:buSzPct val="100000"/>
              <a:buChar char="•"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유니크 인덱스가 중복을 최종 차단</a:t>
            </a:r>
            <a:endParaRPr lang="en-US" sz="1080" dirty="0"/>
          </a:p>
          <a:p>
            <a:pPr marL="177800" indent="-177800">
              <a:buSzPct val="100000"/>
              <a:buChar char="•"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성공하면 곧바로 세션 생성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3419856" y="1783080"/>
            <a:ext cx="2651760" cy="43891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19856" y="1783080"/>
            <a:ext cx="2651760" cy="64008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02736" y="20116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02736" y="2423160"/>
            <a:ext cx="2286000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아이디로 계정을 찾는다</a:t>
            </a:r>
            <a:endParaRPr lang="en-US" sz="1080" dirty="0"/>
          </a:p>
          <a:p>
            <a:pPr marL="177800" indent="-177800">
              <a:buSzPct val="100000"/>
              <a:buChar char="•"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bcrypt.compare 로 대조</a:t>
            </a:r>
            <a:endParaRPr lang="en-US" sz="1080" dirty="0"/>
          </a:p>
          <a:p>
            <a:pPr marL="177800" indent="-177800">
              <a:buSzPct val="100000"/>
              <a:buChar char="•"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아이디가 없든 비밀번호가 틀리든 같은 문구·401</a:t>
            </a:r>
            <a:endParaRPr lang="en-US" sz="1080" dirty="0"/>
          </a:p>
          <a:p>
            <a:pPr marL="177800" indent="-177800">
              <a:buSzPct val="100000"/>
              <a:buChar char="•"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난수 토큰 발급, DB 에는 SHA-256 만 저장</a:t>
            </a:r>
            <a:endParaRPr lang="en-US" sz="1080" dirty="0"/>
          </a:p>
          <a:p>
            <a:pPr marL="177800" indent="-177800">
              <a:buSzPct val="100000"/>
              <a:buChar char="•"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httpOnly·secure·sameSite=lax 쿠키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6272784" y="1783080"/>
            <a:ext cx="2651760" cy="43891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72784" y="1783080"/>
            <a:ext cx="2651760" cy="64008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55664" y="20116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로그아웃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55664" y="2423160"/>
            <a:ext cx="2286000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쿠키의 토큰을 해시해 DB 행을 삭제</a:t>
            </a:r>
            <a:endParaRPr lang="en-US" sz="1080" dirty="0"/>
          </a:p>
          <a:p>
            <a:pPr marL="177800" indent="-177800">
              <a:buSzPct val="100000"/>
              <a:buChar char="•"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쿠키도 지운다</a:t>
            </a:r>
            <a:endParaRPr lang="en-US" sz="1080" dirty="0"/>
          </a:p>
          <a:p>
            <a:pPr marL="177800" indent="-177800">
              <a:buSzPct val="100000"/>
              <a:buChar char="•"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브라우저에 값이 남아 있어도 다시 통하지 않는다</a:t>
            </a:r>
            <a:endParaRPr lang="en-US" sz="1080" dirty="0"/>
          </a:p>
          <a:p>
            <a:pPr marL="177800" indent="-177800">
              <a:buSzPct val="100000"/>
              <a:buChar char="•"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변경 시에는 그 계정의 모든 세션을 폐기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9125712" y="1783080"/>
            <a:ext cx="2651760" cy="43891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125712" y="1783080"/>
            <a:ext cx="2651760" cy="64008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08592" y="20116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조회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08592" y="2423160"/>
            <a:ext cx="2286000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쿠키 토큰 → SHA-256 → 세션 조회</a:t>
            </a:r>
            <a:endParaRPr lang="en-US" sz="1080" dirty="0"/>
          </a:p>
          <a:p>
            <a:pPr marL="177800" indent="-177800">
              <a:buSzPct val="100000"/>
              <a:buChar char="•"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 시각을 확인한다</a:t>
            </a:r>
            <a:endParaRPr lang="en-US" sz="1080" dirty="0"/>
          </a:p>
          <a:p>
            <a:pPr marL="177800" indent="-177800">
              <a:buSzPct val="100000"/>
              <a:buChar char="•"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buildTaskWhere 첫 조건에 user_id 고정</a:t>
            </a:r>
            <a:endParaRPr lang="en-US" sz="1080" dirty="0"/>
          </a:p>
          <a:p>
            <a:pPr marL="177800" indent="-177800">
              <a:buSzPct val="100000"/>
              <a:buChar char="•"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응답은 lib/dto/ 화이트리스트를 통과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RULES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제한이 없는 대신, 추측 난이도와 중복을 구조로 막았다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검사는 lib/domain/rules.ts 한 곳에만 두고 서버에서 반드시 다시 검사한다.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53492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규칙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286000"/>
            <a:ext cx="4892040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10자 이상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대문자 · 소문자 · 숫자 · 특수문자 각각 1자 이상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조건이 빠졌는지 알려 주고 400 으로 거절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검사는 편의이고, 실제 보장은 서버 재검사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36208" y="1783080"/>
            <a:ext cx="53492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4652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확인 — 두 겹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46520" y="2286000"/>
            <a:ext cx="4892040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입력 중 확인 — 아이디·닉네임의 사용 가능 여부만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DB 유니크 인덱스 — lower() 기준 3개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확인과 제출 사이에 남이 먼저 가입해도 409 로 막힌다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이메일은 확인해 주지 않는다 — 가입자 존재 여부가 새어 나가므로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4389120"/>
            <a:ext cx="11018520" cy="1783080"/>
          </a:xfrm>
          <a:prstGeom prst="roundRect">
            <a:avLst>
              <a:gd name="adj" fmla="val 4103"/>
            </a:avLst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문구로 답하는 이유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7240" y="491947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아이디로 로그인해도, 있는 아이디에 틀린 비밀번호를 넣어도 "아이디 또는 비밀번호가 올바르지 않습니다." 한 문구와 401 로만 답한다.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답을 다르게 하면 어떤 아이디가 가입되어 있는지 하나씩 확인할 수 있게 되기 때문이다 (T07-C99).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 LIFECYCLE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서버가 언제든 세션을 없앨 수 있다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쿠키에 든 값은 의미 없는 난수다. DB 에 그 값의 해시가 있어야만 유효하다.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1783080"/>
            <a:ext cx="2651760" cy="64008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116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발급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37744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randomBytes(32) 난수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쿠키에 원문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DB 에 SHA-256 만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64408" y="2468880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419856" y="17830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19856" y="1783080"/>
            <a:ext cx="2651760" cy="64008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02736" y="20116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02736" y="237744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쿠키 토큰을 해시해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조회 · 만료 확인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getSessionUser()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17336" y="2468880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72784" y="17830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72784" y="1783080"/>
            <a:ext cx="2651760" cy="64008"/>
          </a:xfrm>
          <a:prstGeom prst="rect">
            <a:avLst/>
          </a:prstGeom>
          <a:solidFill>
            <a:srgbClr val="D36B55"/>
          </a:solidFill>
          <a:ln w="12700">
            <a:solidFill>
              <a:srgbClr val="D36B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55664" y="20116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로그아웃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55664" y="237744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행 1개 삭제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쿠키도 삭제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970264" y="2468880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125712" y="17830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125712" y="1783080"/>
            <a:ext cx="2651760" cy="64008"/>
          </a:xfrm>
          <a:prstGeom prst="rect">
            <a:avLst/>
          </a:prstGeom>
          <a:solidFill>
            <a:srgbClr val="D36B55"/>
          </a:solidFill>
          <a:ln w="12700">
            <a:solidFill>
              <a:srgbClr val="D36B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08592" y="20116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변경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308592" y="237744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계정의 모든 세션 삭제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기기도 함께 끊긴다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3794760"/>
            <a:ext cx="5349240" cy="2377440"/>
          </a:xfrm>
          <a:prstGeom prst="roundRect">
            <a:avLst>
              <a:gd name="adj" fmla="val 3077"/>
            </a:avLst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77240" y="3977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검증한 것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77240" y="4315968"/>
            <a:ext cx="4892040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1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로그아웃 전 GET /api/tasks → 200</a:t>
            </a:r>
            <a:endParaRPr lang="en-US" sz="1180" dirty="0"/>
          </a:p>
          <a:p>
            <a:pPr marL="177800" indent="-177800">
              <a:buSzPct val="100000"/>
              <a:buChar char="•"/>
            </a:pPr>
            <a:r>
              <a:rPr lang="en-US" sz="11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로그아웃 후 같은 쿠키로 재요청 → 401</a:t>
            </a:r>
            <a:endParaRPr lang="en-US" sz="1180" dirty="0"/>
          </a:p>
          <a:p>
            <a:pPr marL="177800" indent="-177800">
              <a:buSzPct val="100000"/>
              <a:buChar char="•"/>
            </a:pPr>
            <a:r>
              <a:rPr lang="en-US" sz="11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변경 후 이전 세션 → 401</a:t>
            </a:r>
            <a:endParaRPr lang="en-US" sz="1180" dirty="0"/>
          </a:p>
          <a:p>
            <a:pPr marL="177800" indent="-177800">
              <a:buSzPct val="100000"/>
              <a:buChar char="•"/>
            </a:pPr>
            <a:r>
              <a:rPr lang="en-US" sz="11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비밀번호 로그인 → 401 · 새 비밀번호 → 200</a:t>
            </a:r>
            <a:endParaRPr lang="en-US" sz="1180" dirty="0"/>
          </a:p>
        </p:txBody>
      </p:sp>
      <p:sp>
        <p:nvSpPr>
          <p:cNvPr id="28" name="Shape 26"/>
          <p:cNvSpPr/>
          <p:nvPr/>
        </p:nvSpPr>
        <p:spPr>
          <a:xfrm>
            <a:off x="6236208" y="3794760"/>
            <a:ext cx="53492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46520" y="39776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저장·전송 규칙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46520" y="4315968"/>
            <a:ext cx="4892040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1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쿠키 httpOnly — 스크립트가 읽지 못한다</a:t>
            </a:r>
            <a:endParaRPr lang="en-US" sz="1180" dirty="0"/>
          </a:p>
          <a:p>
            <a:pPr marL="177800" indent="-177800">
              <a:buSzPct val="100000"/>
              <a:buChar char="•"/>
            </a:pPr>
            <a:r>
              <a:rPr lang="en-US" sz="11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secure (운영) · sameSite=lax · path=/</a:t>
            </a:r>
            <a:endParaRPr lang="en-US" sz="1180" dirty="0"/>
          </a:p>
          <a:p>
            <a:pPr marL="177800" indent="-177800">
              <a:buSzPct val="100000"/>
              <a:buChar char="•"/>
            </a:pPr>
            <a:r>
              <a:rPr lang="en-US" sz="11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수명 7일, 만료 시각을 DB 에서 함께 확인</a:t>
            </a:r>
            <a:endParaRPr lang="en-US" sz="1180" dirty="0"/>
          </a:p>
          <a:p>
            <a:pPr marL="177800" indent="-177800">
              <a:buSzPct val="100000"/>
              <a:buChar char="•"/>
            </a:pPr>
            <a:r>
              <a:rPr lang="en-US" sz="11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서명키가 없으므로 키 유출 위험 자체가 없다</a:t>
            </a:r>
            <a:endParaRPr lang="en-US" sz="1180" dirty="0"/>
          </a:p>
        </p:txBody>
      </p:sp>
      <p:sp>
        <p:nvSpPr>
          <p:cNvPr id="31" name="Shape 29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OWNERSHIP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사용자는 세션에서만 정해지고, 소유자 조건은 한곳에서 만든다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주소·헤더·요청 본문에서 사용자 ID 를 읽는 코드는 이 프로젝트에 존재하지 않는다.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9808" y="19933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340864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쿠키의 난수 토큰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45536" y="23774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419856" y="182880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02736" y="19933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확인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602736" y="2340864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SHA-256 해시로 DB 조회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getSessionUser()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98464" y="23774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272784" y="182880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55664" y="19933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생성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55664" y="2340864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buildTaskWhere()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조건이 user_id = $1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851392" y="23774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9125712" y="182880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DDEDE7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308592" y="19933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308592" y="2340864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0행이면 404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거절이 상대 자료를 바꾸지 않음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3474720"/>
            <a:ext cx="1101852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3657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403 이 아니라 404 인가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77240" y="4023360"/>
            <a:ext cx="1060704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WHERE id = $1 AND user_id = $2 가 0행을 돌려주면 자연스럽게 404 가 된다.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403 은 "그 자료는 있지만 네 것이 아니다"를 알려 준다 — 존재 자체가 정보가 된다.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WHERE 를 UPDATE·DELETE 에도 두었기 때문에, 거절된 요청은 상대 자료를 건드리지 못한다.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목록·검색·거르기·집계가 모두 buildTaskWhere 한 곳을 지나므로 라우트마다 조건을 빠뜨릴 자리가 없다.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77240" y="553212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검증 결과 — 두 방향 모두: 읽기 404 · 수정 404 · 삭제 404 · 날짜 이동 404 · 상대 자료 불변 · 목록 유출 0건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RESPONSE DTO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행을 그대로 돌려주지 않는다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 * 로 뽑은 행을 그대로 실으면, 나중에 추가한 컬럼이 자동으로 새어 나간다.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5349240" cy="2240280"/>
          </a:xfrm>
          <a:prstGeom prst="roundRect">
            <a:avLst>
              <a:gd name="adj" fmla="val 3265"/>
            </a:avLst>
          </a:prstGeom>
          <a:solidFill>
            <a:srgbClr val="FDF1EE"/>
          </a:solidFill>
          <a:ln w="12700">
            <a:solidFill>
              <a:srgbClr val="D36B55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고치기 전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331720"/>
            <a:ext cx="4892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NextResponse.json(rows);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user_id · deleted_at · 내부 시각 컬럼이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응답에 그대로 실렸다.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36208" y="1783080"/>
            <a:ext cx="5349240" cy="2240280"/>
          </a:xfrm>
          <a:prstGeom prst="roundRect">
            <a:avLst>
              <a:gd name="adj" fmla="val 3265"/>
            </a:avLst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4652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고친 뒤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46520" y="2331720"/>
            <a:ext cx="4892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NextResponse.json(rows.map(publicTask));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화이트리스트에 적힌 필드만 나간다.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새 컬럼은 명시하지 않는 한 나가지 않는다.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251960"/>
            <a:ext cx="1101852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범위와 발견 경위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7240" y="4773168"/>
            <a:ext cx="1060704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1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publicPlan · publicPlanRevision · publicTask · publicCompletion · publicRun · publicReview · publicUser 일곱 가지.</a:t>
            </a:r>
            <a:endParaRPr lang="en-US" sz="1180" dirty="0"/>
          </a:p>
          <a:p>
            <a:pPr marL="177800" indent="-177800">
              <a:buSzPct val="100000"/>
              <a:buChar char="•"/>
            </a:pPr>
            <a:r>
              <a:rPr lang="en-US" sz="11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 /api/tasks 가 DB 행 전체를 반환하던 누출을 발견해 고치고, 같은 유형이 있던 계획 목록·상세·수정 이력·할 일 생성/상세/수정·실행 기록·돌아보기·내보내기까지 일괄 보강했다.</a:t>
            </a:r>
            <a:endParaRPr lang="en-US" sz="1180" dirty="0"/>
          </a:p>
          <a:p>
            <a:pPr marL="177800" indent="-177800">
              <a:buSzPct val="100000"/>
              <a:buChar char="•"/>
            </a:pPr>
            <a:r>
              <a:rPr lang="en-US" sz="11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배포 응답(T07-A18)에서 user_id·deleted_at 이 실제로 나오지 않음을 확인했다.</a:t>
            </a:r>
            <a:endParaRPr lang="en-US" sz="1180" dirty="0"/>
          </a:p>
        </p:txBody>
      </p:sp>
      <p:sp>
        <p:nvSpPr>
          <p:cNvPr id="15" name="Shape 13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GUIDE ⑤ ⑥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지킨 규칙과, 아직 못 막은 것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막은 것을 적지 않으면 이 항목은 통과가 아니다 (T07-C130).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349240" cy="4434840"/>
          </a:xfrm>
          <a:prstGeom prst="roundRect">
            <a:avLst>
              <a:gd name="adj" fmla="val 1649"/>
            </a:avLst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세션 · 저장 · 보안 세부 규칙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286000"/>
            <a:ext cx="4892040" cy="3703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쿠키 — HttpOnly · SameSite=Lax · 배포 환경 Secure · 유효기간 7일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저장 — 세션 원문이 아니라 SHA-256 해시만 user_session 에 저장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— bcrypt cost 12, 응답 DTO 와 로그에서 제외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방지 — 아이디·닉네임·이메일의 대소문자 무시 유니크 인덱스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소유권 — plan·task·review 의 user_id NOT NULL, 목록·검색·집계와 단건 변경 모두 적용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폐기 — 로그아웃은 현재 세션 삭제, 비밀번호 변경은 그 사용자의 모든 세션 삭제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6208" y="1737360"/>
            <a:ext cx="5349240" cy="4434840"/>
          </a:xfrm>
          <a:prstGeom prst="roundRect">
            <a:avLst>
              <a:gd name="adj" fmla="val 1649"/>
            </a:avLst>
          </a:prstGeom>
          <a:solidFill>
            <a:srgbClr val="FDF1EE"/>
          </a:solidFill>
          <a:ln w="12700">
            <a:solidFill>
              <a:srgbClr val="D36B55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4652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아직 못 막은 것과 위험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46520" y="2286000"/>
            <a:ext cx="4892040" cy="3703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12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시도 횟수 제한·계정 잠금·CAPTCHA 가 없다. 강한 비밀번호 규칙은 추측 난도를 높이지만 무차별 대입 시도 자체를 막지 못한다.</a:t>
            </a:r>
            <a:endParaRPr lang="en-US" sz="1120" dirty="0"/>
          </a:p>
          <a:p>
            <a:pPr marL="177800" indent="-177800">
              <a:buSzPct val="100000"/>
              <a:buChar char="•"/>
            </a:pPr>
            <a:r>
              <a:rPr lang="en-US" sz="112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중복확인 API 에 호출 횟수 제한이 없어 아이디·닉네임 존재 여부를 반복 조회할 수 있다. 이메일은 이 API 에서 확인해 주지 않아 범위를 줄였다.</a:t>
            </a:r>
            <a:endParaRPr lang="en-US" sz="1120" dirty="0"/>
          </a:p>
          <a:p>
            <a:pPr marL="177800" indent="-177800">
              <a:buSzPct val="100000"/>
              <a:buChar char="•"/>
            </a:pPr>
            <a:r>
              <a:rPr lang="en-US" sz="112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 찾기와 등록 정보 일치 방식의 비밀번호 재설정은 이메일 소유 확인·일회용 링크가 없다. 등록 정보를 아는 사람이 복구를 시도할 위험이 있어, 운영 서비스라면 메일 인증으로 교체해야 한다.</a:t>
            </a:r>
            <a:endParaRPr lang="en-US" sz="1120" dirty="0"/>
          </a:p>
          <a:p>
            <a:pPr marL="177800" indent="-177800">
              <a:buSzPct val="100000"/>
              <a:buChar char="•"/>
            </a:pPr>
            <a:r>
              <a:rPr lang="en-US" sz="112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관리자용 세션 강제 종료와 감사 로그가 없다. 계정 이상 징후를 운영자가 추적하기 어렵다.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AUTOMATED TESTS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검사 28건이 무엇을 지키고 있는가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node --test · 외부 프레임워크 없이 표준 러너만 쓴다. 기존 단언을 약화시키지 않았다.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288036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810512"/>
            <a:ext cx="2770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파일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47288" y="1783080"/>
            <a:ext cx="96012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02152" y="1810512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건수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07408" y="1783080"/>
            <a:ext cx="717804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62272" y="1810512"/>
            <a:ext cx="7068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지키는 것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85416"/>
            <a:ext cx="288036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" y="2203704"/>
            <a:ext cx="275234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auth.test.mjs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3447288" y="2185416"/>
            <a:ext cx="96012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11296" y="2203704"/>
            <a:ext cx="83210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4407408" y="2185416"/>
            <a:ext cx="717804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71416" y="2203704"/>
            <a:ext cx="705002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해시·세션 발급과 폐기·소유자 조건·DTO 누출 차단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566928" y="2676906"/>
            <a:ext cx="288036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" y="2695194"/>
            <a:ext cx="275234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rules.test.js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3447288" y="2676906"/>
            <a:ext cx="96012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11296" y="2695194"/>
            <a:ext cx="83210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4407408" y="2676906"/>
            <a:ext cx="717804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71416" y="2695194"/>
            <a:ext cx="705002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복잡도·아이디/닉네임 형식·서버 재검사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566928" y="3168396"/>
            <a:ext cx="288036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186684"/>
            <a:ext cx="275234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schedule-route.test.js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3447288" y="3168396"/>
            <a:ext cx="96012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11296" y="3186684"/>
            <a:ext cx="83210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80" dirty="0"/>
          </a:p>
        </p:txBody>
      </p:sp>
      <p:sp>
        <p:nvSpPr>
          <p:cNvPr id="28" name="Shape 26"/>
          <p:cNvSpPr/>
          <p:nvPr/>
        </p:nvSpPr>
        <p:spPr>
          <a:xfrm>
            <a:off x="4407408" y="3168396"/>
            <a:ext cx="717804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71416" y="3186684"/>
            <a:ext cx="705002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드래그 날짜 이동의 소유권·서버 시간 계산·계획 없는 할 일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566928" y="3659886"/>
            <a:ext cx="288036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" y="3678174"/>
            <a:ext cx="275234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planner.test.mjs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3447288" y="3659886"/>
            <a:ext cx="96012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11296" y="3678174"/>
            <a:ext cx="83210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80" dirty="0"/>
          </a:p>
        </p:txBody>
      </p:sp>
      <p:sp>
        <p:nvSpPr>
          <p:cNvPr id="34" name="Shape 32"/>
          <p:cNvSpPr/>
          <p:nvPr/>
        </p:nvSpPr>
        <p:spPr>
          <a:xfrm>
            <a:off x="4407408" y="3659886"/>
            <a:ext cx="717804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71416" y="3678174"/>
            <a:ext cx="705002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시작 요일(월요일)·일간/주간/월간 범위 계산</a:t>
            </a:r>
            <a:endParaRPr lang="en-US" sz="980" dirty="0"/>
          </a:p>
        </p:txBody>
      </p:sp>
      <p:sp>
        <p:nvSpPr>
          <p:cNvPr id="36" name="Shape 34"/>
          <p:cNvSpPr/>
          <p:nvPr/>
        </p:nvSpPr>
        <p:spPr>
          <a:xfrm>
            <a:off x="566928" y="4151376"/>
            <a:ext cx="288036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0936" y="4169664"/>
            <a:ext cx="275234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time.test.js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3447288" y="4151376"/>
            <a:ext cx="96012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11296" y="4169664"/>
            <a:ext cx="83210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80" dirty="0"/>
          </a:p>
        </p:txBody>
      </p:sp>
      <p:sp>
        <p:nvSpPr>
          <p:cNvPr id="40" name="Shape 38"/>
          <p:cNvSpPr/>
          <p:nvPr/>
        </p:nvSpPr>
        <p:spPr>
          <a:xfrm>
            <a:off x="4407408" y="4151376"/>
            <a:ext cx="717804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71416" y="4169664"/>
            <a:ext cx="705002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시작·마감 시각의 분 계산·자정 경계·시작일 ≤ 마감일</a:t>
            </a:r>
            <a:endParaRPr lang="en-US" sz="980" dirty="0"/>
          </a:p>
        </p:txBody>
      </p:sp>
      <p:sp>
        <p:nvSpPr>
          <p:cNvPr id="42" name="Shape 40"/>
          <p:cNvSpPr/>
          <p:nvPr/>
        </p:nvSpPr>
        <p:spPr>
          <a:xfrm>
            <a:off x="566928" y="4642866"/>
            <a:ext cx="288036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0936" y="4661154"/>
            <a:ext cx="275234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recovery.test.js</a:t>
            </a:r>
            <a:endParaRPr lang="en-US" sz="980" dirty="0"/>
          </a:p>
        </p:txBody>
      </p:sp>
      <p:sp>
        <p:nvSpPr>
          <p:cNvPr id="44" name="Shape 42"/>
          <p:cNvSpPr/>
          <p:nvPr/>
        </p:nvSpPr>
        <p:spPr>
          <a:xfrm>
            <a:off x="3447288" y="4642866"/>
            <a:ext cx="96012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11296" y="4661154"/>
            <a:ext cx="83210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80" dirty="0"/>
          </a:p>
        </p:txBody>
      </p:sp>
      <p:sp>
        <p:nvSpPr>
          <p:cNvPr id="46" name="Shape 44"/>
          <p:cNvSpPr/>
          <p:nvPr/>
        </p:nvSpPr>
        <p:spPr>
          <a:xfrm>
            <a:off x="4407408" y="4642866"/>
            <a:ext cx="717804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71416" y="4661154"/>
            <a:ext cx="705002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 찾기·비밀번호 변경의 등록 정보 일치 검사</a:t>
            </a:r>
            <a:endParaRPr lang="en-US" sz="980" dirty="0"/>
          </a:p>
        </p:txBody>
      </p:sp>
      <p:sp>
        <p:nvSpPr>
          <p:cNvPr id="48" name="Shape 46"/>
          <p:cNvSpPr/>
          <p:nvPr/>
        </p:nvSpPr>
        <p:spPr>
          <a:xfrm>
            <a:off x="566928" y="5134356"/>
            <a:ext cx="288036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936" y="5152644"/>
            <a:ext cx="275234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db.test.js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3447288" y="5134356"/>
            <a:ext cx="96012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11296" y="5152644"/>
            <a:ext cx="83210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80" dirty="0"/>
          </a:p>
        </p:txBody>
      </p:sp>
      <p:sp>
        <p:nvSpPr>
          <p:cNvPr id="52" name="Shape 50"/>
          <p:cNvSpPr/>
          <p:nvPr/>
        </p:nvSpPr>
        <p:spPr>
          <a:xfrm>
            <a:off x="4407408" y="5134356"/>
            <a:ext cx="717804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471416" y="5152644"/>
            <a:ext cx="705002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연결의 Asia/Seoul 표시 시간대</a:t>
            </a:r>
            <a:endParaRPr lang="en-US" sz="980" dirty="0"/>
          </a:p>
        </p:txBody>
      </p:sp>
      <p:sp>
        <p:nvSpPr>
          <p:cNvPr id="54" name="Shape 52"/>
          <p:cNvSpPr/>
          <p:nvPr/>
        </p:nvSpPr>
        <p:spPr>
          <a:xfrm>
            <a:off x="566928" y="5625846"/>
            <a:ext cx="288036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936" y="5644134"/>
            <a:ext cx="275234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plan-color.test.js</a:t>
            </a:r>
            <a:endParaRPr lang="en-US" sz="980" dirty="0"/>
          </a:p>
        </p:txBody>
      </p:sp>
      <p:sp>
        <p:nvSpPr>
          <p:cNvPr id="56" name="Shape 54"/>
          <p:cNvSpPr/>
          <p:nvPr/>
        </p:nvSpPr>
        <p:spPr>
          <a:xfrm>
            <a:off x="3447288" y="5625846"/>
            <a:ext cx="96012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511296" y="5644134"/>
            <a:ext cx="83210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80" dirty="0"/>
          </a:p>
        </p:txBody>
      </p:sp>
      <p:sp>
        <p:nvSpPr>
          <p:cNvPr id="58" name="Shape 56"/>
          <p:cNvSpPr/>
          <p:nvPr/>
        </p:nvSpPr>
        <p:spPr>
          <a:xfrm>
            <a:off x="4407408" y="5625846"/>
            <a:ext cx="717804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71416" y="5644134"/>
            <a:ext cx="705002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계획별 색상이 표시 집합 안에서 겹치지 않음</a:t>
            </a:r>
            <a:endParaRPr lang="en-US" sz="980" dirty="0"/>
          </a:p>
        </p:txBody>
      </p:sp>
      <p:sp>
        <p:nvSpPr>
          <p:cNvPr id="60" name="Text 58"/>
          <p:cNvSpPr/>
          <p:nvPr/>
        </p:nvSpPr>
        <p:spPr>
          <a:xfrm>
            <a:off x="566928" y="6035040"/>
            <a:ext cx="11018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돌리는 것 — tsc --noEmit (타입 오류 0) · next build (프로덕션 빌드 성공) · npm audit --omit=dev (취약점 0건)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배포 주소에서 확인한 결과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계정으로 검증하고 증거를 남긴 뒤 계정과 자료를 정리했다.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603504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764792"/>
            <a:ext cx="5925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항목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601968" y="1737360"/>
            <a:ext cx="498348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56832" y="1764792"/>
            <a:ext cx="4873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139696"/>
            <a:ext cx="6035040" cy="3276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" y="2157984"/>
            <a:ext cx="590702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미로그인 자료 API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6601968" y="2139696"/>
            <a:ext cx="4983480" cy="3276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65976" y="2157984"/>
            <a:ext cx="485546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401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566928" y="2467356"/>
            <a:ext cx="6035040" cy="3276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485644"/>
            <a:ext cx="590702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첫 화면 · /tasks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6601968" y="2467356"/>
            <a:ext cx="4983480" cy="3276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65976" y="2485644"/>
            <a:ext cx="485546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화면 200 · 자료 화면 307 → /login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566928" y="2795016"/>
            <a:ext cx="6035040" cy="3276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" y="2813304"/>
            <a:ext cx="590702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가입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6601968" y="2795016"/>
            <a:ext cx="4983480" cy="3276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5976" y="2813304"/>
            <a:ext cx="485546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409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566928" y="3122676"/>
            <a:ext cx="6035040" cy="3276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" y="3140964"/>
            <a:ext cx="590702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비밀번호의 두 저장값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6601968" y="3122676"/>
            <a:ext cx="4983480" cy="3276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65976" y="3140964"/>
            <a:ext cx="485546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bcrypt 해시 (cost 12)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66928" y="3450336"/>
            <a:ext cx="6035040" cy="3276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" y="3468624"/>
            <a:ext cx="590702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비밀번호 · 없는 아이디</a:t>
            </a:r>
            <a:endParaRPr lang="en-US" sz="980" dirty="0"/>
          </a:p>
        </p:txBody>
      </p:sp>
      <p:sp>
        <p:nvSpPr>
          <p:cNvPr id="28" name="Shape 26"/>
          <p:cNvSpPr/>
          <p:nvPr/>
        </p:nvSpPr>
        <p:spPr>
          <a:xfrm>
            <a:off x="6601968" y="3450336"/>
            <a:ext cx="4983480" cy="3276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65976" y="3468624"/>
            <a:ext cx="485546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문구 · 401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566928" y="3777996"/>
            <a:ext cx="6035040" cy="3276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" y="3796284"/>
            <a:ext cx="590702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 계정 읽기 · 수정 · 삭제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6601968" y="3777996"/>
            <a:ext cx="4983480" cy="3276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65976" y="3796284"/>
            <a:ext cx="485546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양방향 모두 404, 상대 자료 불변</a:t>
            </a:r>
            <a:endParaRPr lang="en-US" sz="980" dirty="0"/>
          </a:p>
        </p:txBody>
      </p:sp>
      <p:sp>
        <p:nvSpPr>
          <p:cNvPr id="34" name="Shape 32"/>
          <p:cNvSpPr/>
          <p:nvPr/>
        </p:nvSpPr>
        <p:spPr>
          <a:xfrm>
            <a:off x="566928" y="4105656"/>
            <a:ext cx="6035040" cy="3276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936" y="4123944"/>
            <a:ext cx="590702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 계정 목록 유출</a:t>
            </a:r>
            <a:endParaRPr lang="en-US" sz="980" dirty="0"/>
          </a:p>
        </p:txBody>
      </p:sp>
      <p:sp>
        <p:nvSpPr>
          <p:cNvPr id="36" name="Shape 34"/>
          <p:cNvSpPr/>
          <p:nvPr/>
        </p:nvSpPr>
        <p:spPr>
          <a:xfrm>
            <a:off x="6601968" y="4105656"/>
            <a:ext cx="4983480" cy="3276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65976" y="4123944"/>
            <a:ext cx="485546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 (요청 본문의 사용자 필드는 무시)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566928" y="4433316"/>
            <a:ext cx="6035040" cy="3276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0936" y="4451604"/>
            <a:ext cx="590702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로그아웃 · 비밀번호 변경 뒤 이전 세션</a:t>
            </a:r>
            <a:endParaRPr lang="en-US" sz="980" dirty="0"/>
          </a:p>
        </p:txBody>
      </p:sp>
      <p:sp>
        <p:nvSpPr>
          <p:cNvPr id="40" name="Shape 38"/>
          <p:cNvSpPr/>
          <p:nvPr/>
        </p:nvSpPr>
        <p:spPr>
          <a:xfrm>
            <a:off x="6601968" y="4433316"/>
            <a:ext cx="4983480" cy="3276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65976" y="4451604"/>
            <a:ext cx="485546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401</a:t>
            </a:r>
            <a:endParaRPr lang="en-US" sz="980" dirty="0"/>
          </a:p>
        </p:txBody>
      </p:sp>
      <p:sp>
        <p:nvSpPr>
          <p:cNvPr id="42" name="Shape 40"/>
          <p:cNvSpPr/>
          <p:nvPr/>
        </p:nvSpPr>
        <p:spPr>
          <a:xfrm>
            <a:off x="566928" y="4760976"/>
            <a:ext cx="6035040" cy="3276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0936" y="4779264"/>
            <a:ext cx="590702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자료 내보내기</a:t>
            </a:r>
            <a:endParaRPr lang="en-US" sz="980" dirty="0"/>
          </a:p>
        </p:txBody>
      </p:sp>
      <p:sp>
        <p:nvSpPr>
          <p:cNvPr id="44" name="Shape 42"/>
          <p:cNvSpPr/>
          <p:nvPr/>
        </p:nvSpPr>
        <p:spPr>
          <a:xfrm>
            <a:off x="6601968" y="4760976"/>
            <a:ext cx="4983480" cy="3276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5976" y="4779264"/>
            <a:ext cx="485546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JSON 200 · 타 계정 유출 0건 · 내부 필드 미노출</a:t>
            </a:r>
            <a:endParaRPr lang="en-US" sz="980" dirty="0"/>
          </a:p>
        </p:txBody>
      </p:sp>
      <p:sp>
        <p:nvSpPr>
          <p:cNvPr id="46" name="Shape 44"/>
          <p:cNvSpPr/>
          <p:nvPr/>
        </p:nvSpPr>
        <p:spPr>
          <a:xfrm>
            <a:off x="566928" y="5088636"/>
            <a:ext cx="6035040" cy="3276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0936" y="5106924"/>
            <a:ext cx="590702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삭제</a:t>
            </a:r>
            <a:endParaRPr lang="en-US" sz="980" dirty="0"/>
          </a:p>
        </p:txBody>
      </p:sp>
      <p:sp>
        <p:nvSpPr>
          <p:cNvPr id="48" name="Shape 46"/>
          <p:cNvSpPr/>
          <p:nvPr/>
        </p:nvSpPr>
        <p:spPr>
          <a:xfrm>
            <a:off x="6601968" y="5088636"/>
            <a:ext cx="4983480" cy="3276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65976" y="5106924"/>
            <a:ext cx="485546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· 계획 · 할 일 0건, 이전 세션 401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66928" y="5416296"/>
            <a:ext cx="6035040" cy="3276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0936" y="5434584"/>
            <a:ext cx="590702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검사 · 타입 · 빌드 · 감사</a:t>
            </a:r>
            <a:endParaRPr lang="en-US" sz="980" dirty="0"/>
          </a:p>
        </p:txBody>
      </p:sp>
      <p:sp>
        <p:nvSpPr>
          <p:cNvPr id="52" name="Shape 50"/>
          <p:cNvSpPr/>
          <p:nvPr/>
        </p:nvSpPr>
        <p:spPr>
          <a:xfrm>
            <a:off x="6601968" y="5416296"/>
            <a:ext cx="4983480" cy="3276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5976" y="5434584"/>
            <a:ext cx="485546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28건 통과 · 통과 · 통과 · 취약점 0건</a:t>
            </a:r>
            <a:endParaRPr lang="en-US" sz="980" dirty="0"/>
          </a:p>
        </p:txBody>
      </p:sp>
      <p:sp>
        <p:nvSpPr>
          <p:cNvPr id="54" name="Shape 52"/>
          <p:cNvSpPr/>
          <p:nvPr/>
        </p:nvSpPr>
        <p:spPr>
          <a:xfrm>
            <a:off x="566928" y="5743956"/>
            <a:ext cx="6035040" cy="3276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936" y="5762244"/>
            <a:ext cx="590702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비밀값 스캔</a:t>
            </a:r>
            <a:endParaRPr lang="en-US" sz="980" dirty="0"/>
          </a:p>
        </p:txBody>
      </p:sp>
      <p:sp>
        <p:nvSpPr>
          <p:cNvPr id="56" name="Shape 54"/>
          <p:cNvSpPr/>
          <p:nvPr/>
        </p:nvSpPr>
        <p:spPr>
          <a:xfrm>
            <a:off x="6601968" y="5743956"/>
            <a:ext cx="4983480" cy="3276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665976" y="5762244"/>
            <a:ext cx="485546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· Git 전체 이력 0건</a:t>
            </a:r>
            <a:endParaRPr lang="en-US" sz="980" dirty="0"/>
          </a:p>
        </p:txBody>
      </p:sp>
      <p:sp>
        <p:nvSpPr>
          <p:cNvPr id="58" name="Shape 56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QUICK CHECK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심사자가 30초 안에 확인하는 순서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시크릿 창에서 세 단계 안에 끝난다. 심사자는 제 계정으로 로그인하지 않는다.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11018520" cy="1371600"/>
          </a:xfrm>
          <a:prstGeom prst="roundRect">
            <a:avLst>
              <a:gd name="adj" fmla="val 5333"/>
            </a:avLst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87452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어디로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77240" y="219456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plan-do-see-diary.vercel.app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시크릿 창에서 연다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474720" y="187452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무엇을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474720" y="219456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(1) 주소 열기 → (2) /tasks 붙여 열기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(3) 가입 또는 로그인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72200" y="187452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통과 기준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172200" y="219456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(1) 선택 화면 (2) 로그인 화면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(3) 뒤에만 그 계정의 다이어리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869680" y="187452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안 될 때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9680" y="219456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주소는 로그인 화면으로 돌아감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 한 문구만 나온다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246120"/>
            <a:ext cx="64008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3273552"/>
            <a:ext cx="530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207008" y="3246120"/>
            <a:ext cx="457200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61872" y="3273552"/>
            <a:ext cx="4462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779008" y="3246120"/>
            <a:ext cx="411480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33872" y="3273552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893808" y="3246120"/>
            <a:ext cx="169164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948672" y="3273552"/>
            <a:ext cx="1581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3648456"/>
            <a:ext cx="640080" cy="291465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" y="3666744"/>
            <a:ext cx="51206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1207008" y="3648456"/>
            <a:ext cx="4572000" cy="291465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71016" y="3666744"/>
            <a:ext cx="444398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없이 /tasks 열기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5779008" y="3648456"/>
            <a:ext cx="4114800" cy="291465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43016" y="3666744"/>
            <a:ext cx="398678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대신 로그인 화면</a:t>
            </a:r>
            <a:endParaRPr lang="en-US" sz="980" dirty="0"/>
          </a:p>
        </p:txBody>
      </p:sp>
      <p:sp>
        <p:nvSpPr>
          <p:cNvPr id="29" name="Shape 27"/>
          <p:cNvSpPr/>
          <p:nvPr/>
        </p:nvSpPr>
        <p:spPr>
          <a:xfrm>
            <a:off x="9893808" y="3648456"/>
            <a:ext cx="1691640" cy="291465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57816" y="3666744"/>
            <a:ext cx="156362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307 → /login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566928" y="3939921"/>
            <a:ext cx="640080" cy="291465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" y="3958209"/>
            <a:ext cx="51206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1207008" y="3939921"/>
            <a:ext cx="4572000" cy="291465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271016" y="3958209"/>
            <a:ext cx="444398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중복확인을 지나쳐 그대로 제출</a:t>
            </a:r>
            <a:endParaRPr lang="en-US" sz="980" dirty="0"/>
          </a:p>
        </p:txBody>
      </p:sp>
      <p:sp>
        <p:nvSpPr>
          <p:cNvPr id="35" name="Shape 33"/>
          <p:cNvSpPr/>
          <p:nvPr/>
        </p:nvSpPr>
        <p:spPr>
          <a:xfrm>
            <a:off x="5779008" y="3939921"/>
            <a:ext cx="4114800" cy="291465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43016" y="3958209"/>
            <a:ext cx="398678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유니크 인덱스가 거절</a:t>
            </a:r>
            <a:endParaRPr lang="en-US" sz="980" dirty="0"/>
          </a:p>
        </p:txBody>
      </p:sp>
      <p:sp>
        <p:nvSpPr>
          <p:cNvPr id="37" name="Shape 35"/>
          <p:cNvSpPr/>
          <p:nvPr/>
        </p:nvSpPr>
        <p:spPr>
          <a:xfrm>
            <a:off x="9893808" y="3939921"/>
            <a:ext cx="1691640" cy="291465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57816" y="3958209"/>
            <a:ext cx="156362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409</a:t>
            </a:r>
            <a:endParaRPr lang="en-US" sz="980" dirty="0"/>
          </a:p>
        </p:txBody>
      </p:sp>
      <p:sp>
        <p:nvSpPr>
          <p:cNvPr id="39" name="Shape 37"/>
          <p:cNvSpPr/>
          <p:nvPr/>
        </p:nvSpPr>
        <p:spPr>
          <a:xfrm>
            <a:off x="566928" y="4231386"/>
            <a:ext cx="640080" cy="291465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0936" y="4249674"/>
            <a:ext cx="51206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1207008" y="4231386"/>
            <a:ext cx="4572000" cy="291465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271016" y="4249674"/>
            <a:ext cx="444398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아이디로 로그인</a:t>
            </a:r>
            <a:endParaRPr lang="en-US" sz="980" dirty="0"/>
          </a:p>
        </p:txBody>
      </p:sp>
      <p:sp>
        <p:nvSpPr>
          <p:cNvPr id="43" name="Shape 41"/>
          <p:cNvSpPr/>
          <p:nvPr/>
        </p:nvSpPr>
        <p:spPr>
          <a:xfrm>
            <a:off x="5779008" y="4231386"/>
            <a:ext cx="4114800" cy="291465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843016" y="4249674"/>
            <a:ext cx="398678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8번과 완전히 같은 문구·상태코드</a:t>
            </a:r>
            <a:endParaRPr lang="en-US" sz="980" dirty="0"/>
          </a:p>
        </p:txBody>
      </p:sp>
      <p:sp>
        <p:nvSpPr>
          <p:cNvPr id="45" name="Shape 43"/>
          <p:cNvSpPr/>
          <p:nvPr/>
        </p:nvSpPr>
        <p:spPr>
          <a:xfrm>
            <a:off x="9893808" y="4231386"/>
            <a:ext cx="1691640" cy="291465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957816" y="4249674"/>
            <a:ext cx="156362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문구 · 401</a:t>
            </a:r>
            <a:endParaRPr lang="en-US" sz="980" dirty="0"/>
          </a:p>
        </p:txBody>
      </p:sp>
      <p:sp>
        <p:nvSpPr>
          <p:cNvPr id="47" name="Shape 45"/>
          <p:cNvSpPr/>
          <p:nvPr/>
        </p:nvSpPr>
        <p:spPr>
          <a:xfrm>
            <a:off x="566928" y="4522851"/>
            <a:ext cx="640080" cy="291465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0936" y="4541139"/>
            <a:ext cx="51206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80" dirty="0"/>
          </a:p>
        </p:txBody>
      </p:sp>
      <p:sp>
        <p:nvSpPr>
          <p:cNvPr id="49" name="Shape 47"/>
          <p:cNvSpPr/>
          <p:nvPr/>
        </p:nvSpPr>
        <p:spPr>
          <a:xfrm>
            <a:off x="1207008" y="4522851"/>
            <a:ext cx="4572000" cy="291465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271016" y="4541139"/>
            <a:ext cx="444398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로그아웃 뒤 같은 쿠키로 요청</a:t>
            </a:r>
            <a:endParaRPr lang="en-US" sz="980" dirty="0"/>
          </a:p>
        </p:txBody>
      </p:sp>
      <p:sp>
        <p:nvSpPr>
          <p:cNvPr id="51" name="Shape 49"/>
          <p:cNvSpPr/>
          <p:nvPr/>
        </p:nvSpPr>
        <p:spPr>
          <a:xfrm>
            <a:off x="5779008" y="4522851"/>
            <a:ext cx="4114800" cy="291465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43016" y="4541139"/>
            <a:ext cx="398678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거절</a:t>
            </a:r>
            <a:endParaRPr lang="en-US" sz="980" dirty="0"/>
          </a:p>
        </p:txBody>
      </p:sp>
      <p:sp>
        <p:nvSpPr>
          <p:cNvPr id="53" name="Shape 51"/>
          <p:cNvSpPr/>
          <p:nvPr/>
        </p:nvSpPr>
        <p:spPr>
          <a:xfrm>
            <a:off x="9893808" y="4522851"/>
            <a:ext cx="1691640" cy="291465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957816" y="4541139"/>
            <a:ext cx="156362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401</a:t>
            </a:r>
            <a:endParaRPr lang="en-US" sz="980" dirty="0"/>
          </a:p>
        </p:txBody>
      </p:sp>
      <p:sp>
        <p:nvSpPr>
          <p:cNvPr id="55" name="Shape 53"/>
          <p:cNvSpPr/>
          <p:nvPr/>
        </p:nvSpPr>
        <p:spPr>
          <a:xfrm>
            <a:off x="566928" y="4814316"/>
            <a:ext cx="640080" cy="291465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4832604"/>
            <a:ext cx="51206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80" dirty="0"/>
          </a:p>
        </p:txBody>
      </p:sp>
      <p:sp>
        <p:nvSpPr>
          <p:cNvPr id="57" name="Shape 55"/>
          <p:cNvSpPr/>
          <p:nvPr/>
        </p:nvSpPr>
        <p:spPr>
          <a:xfrm>
            <a:off x="1207008" y="4814316"/>
            <a:ext cx="4572000" cy="291465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271016" y="4832604"/>
            <a:ext cx="444398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계정의 할 일 주소를 직접 열기</a:t>
            </a:r>
            <a:endParaRPr lang="en-US" sz="980" dirty="0"/>
          </a:p>
        </p:txBody>
      </p:sp>
      <p:sp>
        <p:nvSpPr>
          <p:cNvPr id="59" name="Shape 57"/>
          <p:cNvSpPr/>
          <p:nvPr/>
        </p:nvSpPr>
        <p:spPr>
          <a:xfrm>
            <a:off x="5779008" y="4814316"/>
            <a:ext cx="4114800" cy="291465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843016" y="4832604"/>
            <a:ext cx="398678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찾지 못함</a:t>
            </a:r>
            <a:endParaRPr lang="en-US" sz="980" dirty="0"/>
          </a:p>
        </p:txBody>
      </p:sp>
      <p:sp>
        <p:nvSpPr>
          <p:cNvPr id="61" name="Shape 59"/>
          <p:cNvSpPr/>
          <p:nvPr/>
        </p:nvSpPr>
        <p:spPr>
          <a:xfrm>
            <a:off x="9893808" y="4814316"/>
            <a:ext cx="1691640" cy="291465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957816" y="4832604"/>
            <a:ext cx="156362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양방향 404</a:t>
            </a:r>
            <a:endParaRPr lang="en-US" sz="980" dirty="0"/>
          </a:p>
        </p:txBody>
      </p:sp>
      <p:sp>
        <p:nvSpPr>
          <p:cNvPr id="63" name="Shape 61"/>
          <p:cNvSpPr/>
          <p:nvPr/>
        </p:nvSpPr>
        <p:spPr>
          <a:xfrm>
            <a:off x="566928" y="5105781"/>
            <a:ext cx="640080" cy="291465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30936" y="5124069"/>
            <a:ext cx="51206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80" dirty="0"/>
          </a:p>
        </p:txBody>
      </p:sp>
      <p:sp>
        <p:nvSpPr>
          <p:cNvPr id="65" name="Shape 63"/>
          <p:cNvSpPr/>
          <p:nvPr/>
        </p:nvSpPr>
        <p:spPr>
          <a:xfrm>
            <a:off x="1207008" y="5105781"/>
            <a:ext cx="4572000" cy="291465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271016" y="5124069"/>
            <a:ext cx="444398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 응답 전체 확인</a:t>
            </a:r>
            <a:endParaRPr lang="en-US" sz="980" dirty="0"/>
          </a:p>
        </p:txBody>
      </p:sp>
      <p:sp>
        <p:nvSpPr>
          <p:cNvPr id="67" name="Shape 65"/>
          <p:cNvSpPr/>
          <p:nvPr/>
        </p:nvSpPr>
        <p:spPr>
          <a:xfrm>
            <a:off x="5779008" y="5105781"/>
            <a:ext cx="4114800" cy="291465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843016" y="5124069"/>
            <a:ext cx="398678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남의 자료 0건</a:t>
            </a:r>
            <a:endParaRPr lang="en-US" sz="980" dirty="0"/>
          </a:p>
        </p:txBody>
      </p:sp>
      <p:sp>
        <p:nvSpPr>
          <p:cNvPr id="69" name="Shape 67"/>
          <p:cNvSpPr/>
          <p:nvPr/>
        </p:nvSpPr>
        <p:spPr>
          <a:xfrm>
            <a:off x="9893808" y="5105781"/>
            <a:ext cx="1691640" cy="291465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957816" y="5124069"/>
            <a:ext cx="156362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양방향 유출 0건</a:t>
            </a:r>
            <a:endParaRPr lang="en-US" sz="980" dirty="0"/>
          </a:p>
        </p:txBody>
      </p:sp>
      <p:sp>
        <p:nvSpPr>
          <p:cNvPr id="71" name="Shape 69"/>
          <p:cNvSpPr/>
          <p:nvPr/>
        </p:nvSpPr>
        <p:spPr>
          <a:xfrm>
            <a:off x="566928" y="5397246"/>
            <a:ext cx="640080" cy="291465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30936" y="5415534"/>
            <a:ext cx="51206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80" dirty="0"/>
          </a:p>
        </p:txBody>
      </p:sp>
      <p:sp>
        <p:nvSpPr>
          <p:cNvPr id="73" name="Shape 71"/>
          <p:cNvSpPr/>
          <p:nvPr/>
        </p:nvSpPr>
        <p:spPr>
          <a:xfrm>
            <a:off x="1207008" y="5397246"/>
            <a:ext cx="4572000" cy="291465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271016" y="5415534"/>
            <a:ext cx="444398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</a:t>
            </a:r>
            <a:endParaRPr lang="en-US" sz="980" dirty="0"/>
          </a:p>
        </p:txBody>
      </p:sp>
      <p:sp>
        <p:nvSpPr>
          <p:cNvPr id="75" name="Shape 73"/>
          <p:cNvSpPr/>
          <p:nvPr/>
        </p:nvSpPr>
        <p:spPr>
          <a:xfrm>
            <a:off x="5779008" y="5397246"/>
            <a:ext cx="4114800" cy="291465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843016" y="5415534"/>
            <a:ext cx="398678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자료만 든 파일 1개</a:t>
            </a:r>
            <a:endParaRPr lang="en-US" sz="980" dirty="0"/>
          </a:p>
        </p:txBody>
      </p:sp>
      <p:sp>
        <p:nvSpPr>
          <p:cNvPr id="77" name="Shape 75"/>
          <p:cNvSpPr/>
          <p:nvPr/>
        </p:nvSpPr>
        <p:spPr>
          <a:xfrm>
            <a:off x="9893808" y="5397246"/>
            <a:ext cx="1691640" cy="291465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957816" y="5415534"/>
            <a:ext cx="156362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JSON 200 · 유출 0</a:t>
            </a:r>
            <a:endParaRPr lang="en-US" sz="980" dirty="0"/>
          </a:p>
        </p:txBody>
      </p:sp>
      <p:sp>
        <p:nvSpPr>
          <p:cNvPr id="79" name="Shape 77"/>
          <p:cNvSpPr/>
          <p:nvPr/>
        </p:nvSpPr>
        <p:spPr>
          <a:xfrm>
            <a:off x="566928" y="5688711"/>
            <a:ext cx="640080" cy="291465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30936" y="5706999"/>
            <a:ext cx="51206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80" dirty="0"/>
          </a:p>
        </p:txBody>
      </p:sp>
      <p:sp>
        <p:nvSpPr>
          <p:cNvPr id="81" name="Shape 79"/>
          <p:cNvSpPr/>
          <p:nvPr/>
        </p:nvSpPr>
        <p:spPr>
          <a:xfrm>
            <a:off x="1207008" y="5688711"/>
            <a:ext cx="4572000" cy="291465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1271016" y="5706999"/>
            <a:ext cx="444398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계정의 할 일을 날짜 칸으로 이동</a:t>
            </a:r>
            <a:endParaRPr lang="en-US" sz="980" dirty="0"/>
          </a:p>
        </p:txBody>
      </p:sp>
      <p:sp>
        <p:nvSpPr>
          <p:cNvPr id="83" name="Shape 81"/>
          <p:cNvSpPr/>
          <p:nvPr/>
        </p:nvSpPr>
        <p:spPr>
          <a:xfrm>
            <a:off x="5779008" y="5688711"/>
            <a:ext cx="4114800" cy="291465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843016" y="5706999"/>
            <a:ext cx="398678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변화 없이 거절</a:t>
            </a:r>
            <a:endParaRPr lang="en-US" sz="980" dirty="0"/>
          </a:p>
        </p:txBody>
      </p:sp>
      <p:sp>
        <p:nvSpPr>
          <p:cNvPr id="85" name="Shape 83"/>
          <p:cNvSpPr/>
          <p:nvPr/>
        </p:nvSpPr>
        <p:spPr>
          <a:xfrm>
            <a:off x="9893808" y="5688711"/>
            <a:ext cx="1691640" cy="291465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957816" y="5706999"/>
            <a:ext cx="1563624" cy="25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404 · 불변</a:t>
            </a:r>
            <a:endParaRPr lang="en-US" sz="980" dirty="0"/>
          </a:p>
        </p:txBody>
      </p:sp>
      <p:sp>
        <p:nvSpPr>
          <p:cNvPr id="87" name="Text 85"/>
          <p:cNvSpPr/>
          <p:nvPr/>
        </p:nvSpPr>
        <p:spPr>
          <a:xfrm>
            <a:off x="566928" y="6144768"/>
            <a:ext cx="11018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27개 항목은 docs/과제7/검증안내서.md 에 있다.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5-DAY STUDY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규칙을 하나 바꾸고 전후를 같은 지표로 비교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계획한 시간과 실제로 쓴 시간의 차이를, 계획 규칙을 바꿔서 줄일 수 있는가?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1664208"/>
            <a:ext cx="1101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  하루 시간 오차율 (%) = (그날 완료한 할 일의 실제 분 합 − 예상 분 합) ÷ 예상 분 합 × 100   ·   소수 첫째 자리 반올림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938528"/>
            <a:ext cx="105156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965960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일차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618488" y="1938528"/>
            <a:ext cx="201168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73352" y="1965960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30168" y="1938528"/>
            <a:ext cx="123444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85032" y="1965960"/>
            <a:ext cx="1124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64608" y="1938528"/>
            <a:ext cx="123444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19472" y="1965960"/>
            <a:ext cx="1124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99048" y="1938528"/>
            <a:ext cx="141732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53912" y="1965960"/>
            <a:ext cx="1307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오차율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2340864"/>
            <a:ext cx="105156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" y="2359152"/>
            <a:ext cx="923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1일차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1618488" y="2340864"/>
            <a:ext cx="201168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82496" y="2359152"/>
            <a:ext cx="1883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2026-08-29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3630168" y="2340864"/>
            <a:ext cx="123444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94176" y="2359152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분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4864608" y="2340864"/>
            <a:ext cx="123444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28616" y="2359152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분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6099048" y="2340864"/>
            <a:ext cx="141732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63056" y="2359152"/>
            <a:ext cx="128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+33.3 %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566928" y="2706624"/>
            <a:ext cx="1051560" cy="3657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2724912"/>
            <a:ext cx="923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2일차</a:t>
            </a:r>
            <a:endParaRPr lang="en-US" sz="980" dirty="0"/>
          </a:p>
        </p:txBody>
      </p:sp>
      <p:sp>
        <p:nvSpPr>
          <p:cNvPr id="29" name="Shape 27"/>
          <p:cNvSpPr/>
          <p:nvPr/>
        </p:nvSpPr>
        <p:spPr>
          <a:xfrm>
            <a:off x="1618488" y="2706624"/>
            <a:ext cx="2011680" cy="3657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82496" y="2724912"/>
            <a:ext cx="1883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2026-08-30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3630168" y="2706624"/>
            <a:ext cx="1234440" cy="3657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94176" y="2724912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62 분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4864608" y="2706624"/>
            <a:ext cx="1234440" cy="3657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28616" y="2724912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분</a:t>
            </a:r>
            <a:endParaRPr lang="en-US" sz="980" dirty="0"/>
          </a:p>
        </p:txBody>
      </p:sp>
      <p:sp>
        <p:nvSpPr>
          <p:cNvPr id="35" name="Shape 33"/>
          <p:cNvSpPr/>
          <p:nvPr/>
        </p:nvSpPr>
        <p:spPr>
          <a:xfrm>
            <a:off x="6099048" y="2706624"/>
            <a:ext cx="1417320" cy="3657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63056" y="2724912"/>
            <a:ext cx="128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-93.5 %</a:t>
            </a:r>
            <a:endParaRPr lang="en-US" sz="980" dirty="0"/>
          </a:p>
        </p:txBody>
      </p:sp>
      <p:sp>
        <p:nvSpPr>
          <p:cNvPr id="37" name="Shape 35"/>
          <p:cNvSpPr/>
          <p:nvPr/>
        </p:nvSpPr>
        <p:spPr>
          <a:xfrm>
            <a:off x="566928" y="3072384"/>
            <a:ext cx="105156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" y="3090672"/>
            <a:ext cx="923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3일차</a:t>
            </a:r>
            <a:endParaRPr lang="en-US" sz="980" dirty="0"/>
          </a:p>
        </p:txBody>
      </p:sp>
      <p:sp>
        <p:nvSpPr>
          <p:cNvPr id="39" name="Shape 37"/>
          <p:cNvSpPr/>
          <p:nvPr/>
        </p:nvSpPr>
        <p:spPr>
          <a:xfrm>
            <a:off x="1618488" y="3072384"/>
            <a:ext cx="201168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82496" y="3090672"/>
            <a:ext cx="1883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2026-08-31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3630168" y="3072384"/>
            <a:ext cx="123444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94176" y="3090672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분</a:t>
            </a:r>
            <a:endParaRPr lang="en-US" sz="980" dirty="0"/>
          </a:p>
        </p:txBody>
      </p:sp>
      <p:sp>
        <p:nvSpPr>
          <p:cNvPr id="43" name="Shape 41"/>
          <p:cNvSpPr/>
          <p:nvPr/>
        </p:nvSpPr>
        <p:spPr>
          <a:xfrm>
            <a:off x="4864608" y="3072384"/>
            <a:ext cx="123444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28616" y="3090672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분</a:t>
            </a:r>
            <a:endParaRPr lang="en-US" sz="980" dirty="0"/>
          </a:p>
        </p:txBody>
      </p:sp>
      <p:sp>
        <p:nvSpPr>
          <p:cNvPr id="45" name="Shape 43"/>
          <p:cNvSpPr/>
          <p:nvPr/>
        </p:nvSpPr>
        <p:spPr>
          <a:xfrm>
            <a:off x="6099048" y="3072384"/>
            <a:ext cx="141732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163056" y="3090672"/>
            <a:ext cx="128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0.0 %</a:t>
            </a:r>
            <a:endParaRPr lang="en-US" sz="980" dirty="0"/>
          </a:p>
        </p:txBody>
      </p:sp>
      <p:sp>
        <p:nvSpPr>
          <p:cNvPr id="47" name="Shape 45"/>
          <p:cNvSpPr/>
          <p:nvPr/>
        </p:nvSpPr>
        <p:spPr>
          <a:xfrm>
            <a:off x="566928" y="3438144"/>
            <a:ext cx="1051560" cy="3657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0936" y="3456432"/>
            <a:ext cx="923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4일차</a:t>
            </a:r>
            <a:endParaRPr lang="en-US" sz="980" dirty="0"/>
          </a:p>
        </p:txBody>
      </p:sp>
      <p:sp>
        <p:nvSpPr>
          <p:cNvPr id="49" name="Shape 47"/>
          <p:cNvSpPr/>
          <p:nvPr/>
        </p:nvSpPr>
        <p:spPr>
          <a:xfrm>
            <a:off x="1618488" y="3438144"/>
            <a:ext cx="2011680" cy="3657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682496" y="3456432"/>
            <a:ext cx="1883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2026-09-01</a:t>
            </a:r>
            <a:endParaRPr lang="en-US" sz="980" dirty="0"/>
          </a:p>
        </p:txBody>
      </p:sp>
      <p:sp>
        <p:nvSpPr>
          <p:cNvPr id="51" name="Shape 49"/>
          <p:cNvSpPr/>
          <p:nvPr/>
        </p:nvSpPr>
        <p:spPr>
          <a:xfrm>
            <a:off x="3630168" y="3438144"/>
            <a:ext cx="1234440" cy="3657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94176" y="3456432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분</a:t>
            </a:r>
            <a:endParaRPr lang="en-US" sz="980" dirty="0"/>
          </a:p>
        </p:txBody>
      </p:sp>
      <p:sp>
        <p:nvSpPr>
          <p:cNvPr id="53" name="Shape 51"/>
          <p:cNvSpPr/>
          <p:nvPr/>
        </p:nvSpPr>
        <p:spPr>
          <a:xfrm>
            <a:off x="4864608" y="3438144"/>
            <a:ext cx="1234440" cy="3657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28616" y="3456432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분</a:t>
            </a:r>
            <a:endParaRPr lang="en-US" sz="980" dirty="0"/>
          </a:p>
        </p:txBody>
      </p:sp>
      <p:sp>
        <p:nvSpPr>
          <p:cNvPr id="55" name="Shape 53"/>
          <p:cNvSpPr/>
          <p:nvPr/>
        </p:nvSpPr>
        <p:spPr>
          <a:xfrm>
            <a:off x="6099048" y="3438144"/>
            <a:ext cx="1417320" cy="3657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63056" y="3456432"/>
            <a:ext cx="128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0.0 %</a:t>
            </a:r>
            <a:endParaRPr lang="en-US" sz="980" dirty="0"/>
          </a:p>
        </p:txBody>
      </p:sp>
      <p:sp>
        <p:nvSpPr>
          <p:cNvPr id="57" name="Shape 55"/>
          <p:cNvSpPr/>
          <p:nvPr/>
        </p:nvSpPr>
        <p:spPr>
          <a:xfrm>
            <a:off x="566928" y="3803904"/>
            <a:ext cx="105156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936" y="3822192"/>
            <a:ext cx="923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5일차</a:t>
            </a:r>
            <a:endParaRPr lang="en-US" sz="980" dirty="0"/>
          </a:p>
        </p:txBody>
      </p:sp>
      <p:sp>
        <p:nvSpPr>
          <p:cNvPr id="59" name="Shape 57"/>
          <p:cNvSpPr/>
          <p:nvPr/>
        </p:nvSpPr>
        <p:spPr>
          <a:xfrm>
            <a:off x="1618488" y="3803904"/>
            <a:ext cx="201168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682496" y="3822192"/>
            <a:ext cx="1883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2026-09-02</a:t>
            </a:r>
            <a:endParaRPr lang="en-US" sz="980" dirty="0"/>
          </a:p>
        </p:txBody>
      </p:sp>
      <p:sp>
        <p:nvSpPr>
          <p:cNvPr id="61" name="Shape 59"/>
          <p:cNvSpPr/>
          <p:nvPr/>
        </p:nvSpPr>
        <p:spPr>
          <a:xfrm>
            <a:off x="3630168" y="3803904"/>
            <a:ext cx="123444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694176" y="3822192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분</a:t>
            </a:r>
            <a:endParaRPr lang="en-US" sz="980" dirty="0"/>
          </a:p>
        </p:txBody>
      </p:sp>
      <p:sp>
        <p:nvSpPr>
          <p:cNvPr id="63" name="Shape 61"/>
          <p:cNvSpPr/>
          <p:nvPr/>
        </p:nvSpPr>
        <p:spPr>
          <a:xfrm>
            <a:off x="4864608" y="3803904"/>
            <a:ext cx="123444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928616" y="3822192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분</a:t>
            </a:r>
            <a:endParaRPr lang="en-US" sz="980" dirty="0"/>
          </a:p>
        </p:txBody>
      </p:sp>
      <p:sp>
        <p:nvSpPr>
          <p:cNvPr id="65" name="Shape 63"/>
          <p:cNvSpPr/>
          <p:nvPr/>
        </p:nvSpPr>
        <p:spPr>
          <a:xfrm>
            <a:off x="6099048" y="3803904"/>
            <a:ext cx="141732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163056" y="3822192"/>
            <a:ext cx="128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-50.0 %</a:t>
            </a:r>
            <a:endParaRPr lang="en-US" sz="980" dirty="0"/>
          </a:p>
        </p:txBody>
      </p:sp>
      <p:sp>
        <p:nvSpPr>
          <p:cNvPr id="67" name="Shape 65"/>
          <p:cNvSpPr/>
          <p:nvPr/>
        </p:nvSpPr>
        <p:spPr>
          <a:xfrm>
            <a:off x="7635240" y="1938528"/>
            <a:ext cx="3950208" cy="2231136"/>
          </a:xfrm>
          <a:prstGeom prst="roundRect">
            <a:avLst>
              <a:gd name="adj" fmla="val 3279"/>
            </a:avLst>
          </a:prstGeom>
          <a:solidFill>
            <a:srgbClr val="F7F3E8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7845552" y="212140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규칙 변경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7845552" y="2450592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2026-08-31 10:30:55 (Asia/Seoul)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2일차 기록 뒤 · 3일차 기록(15:30:23) 앞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시간 상한 60분 → 90분 하나만 변경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566928" y="4370832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566928" y="4370832"/>
            <a:ext cx="73152" cy="960120"/>
          </a:xfrm>
          <a:prstGeom prst="rect">
            <a:avLst/>
          </a:prstGeom>
          <a:solidFill>
            <a:srgbClr val="D36B55"/>
          </a:solidFill>
          <a:ln w="12700">
            <a:solidFill>
              <a:srgbClr val="D36B5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68096" y="4489704"/>
            <a:ext cx="3209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-30.1 %</a:t>
            </a:r>
            <a:endParaRPr lang="en-US" sz="2500" dirty="0"/>
          </a:p>
        </p:txBody>
      </p:sp>
      <p:sp>
        <p:nvSpPr>
          <p:cNvPr id="73" name="Text 71"/>
          <p:cNvSpPr/>
          <p:nvPr/>
        </p:nvSpPr>
        <p:spPr>
          <a:xfrm>
            <a:off x="768096" y="4946904"/>
            <a:ext cx="3209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전 평균 (1·2일차)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4315968" y="4370832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4315968" y="4370832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517136" y="4489704"/>
            <a:ext cx="3209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-16.7 %</a:t>
            </a:r>
            <a:endParaRPr lang="en-US" sz="2500" dirty="0"/>
          </a:p>
        </p:txBody>
      </p:sp>
      <p:sp>
        <p:nvSpPr>
          <p:cNvPr id="77" name="Text 75"/>
          <p:cNvSpPr/>
          <p:nvPr/>
        </p:nvSpPr>
        <p:spPr>
          <a:xfrm>
            <a:off x="4517136" y="4946904"/>
            <a:ext cx="3209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후 평균 (3~5일차)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8065008" y="4370832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79" name="Shape 77"/>
          <p:cNvSpPr/>
          <p:nvPr/>
        </p:nvSpPr>
        <p:spPr>
          <a:xfrm>
            <a:off x="8065008" y="4370832"/>
            <a:ext cx="73152" cy="960120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8266176" y="4489704"/>
            <a:ext cx="3209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-22.0 %</a:t>
            </a:r>
            <a:endParaRPr lang="en-US" sz="2500" dirty="0"/>
          </a:p>
        </p:txBody>
      </p:sp>
      <p:sp>
        <p:nvSpPr>
          <p:cNvPr id="81" name="Text 79"/>
          <p:cNvSpPr/>
          <p:nvPr/>
        </p:nvSpPr>
        <p:spPr>
          <a:xfrm>
            <a:off x="8266176" y="4946904"/>
            <a:ext cx="3209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5일 전체 평균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566928" y="5486400"/>
            <a:ext cx="11018520" cy="932688"/>
          </a:xfrm>
          <a:prstGeom prst="roundRect">
            <a:avLst>
              <a:gd name="adj" fmla="val 7843"/>
            </a:avLst>
          </a:prstGeom>
          <a:solidFill>
            <a:srgbClr val="FDF6EA"/>
          </a:solidFill>
          <a:ln w="12700">
            <a:solidFill>
              <a:srgbClr val="C58B2A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83" name="Text 81"/>
          <p:cNvSpPr/>
          <p:nvPr/>
        </p:nvSpPr>
        <p:spPr>
          <a:xfrm>
            <a:off x="777240" y="56144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감추지 않은 것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777240" y="58704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개선의 대부분은 2일차 한 건(-93.5%)이 빠진 효과다. 2일차는 60분 상한에 맞추려고 62분으로 부풀려 잡았다가 4분에 끝난 날이라,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변경의 효과라기보다 그날의 어림 실패가 컸다. 하루 1건씩 5일뿐이므로 이 결론은 잠정이다.</a:t>
            </a:r>
            <a:endParaRPr lang="en-US" sz="1080" dirty="0"/>
          </a:p>
        </p:txBody>
      </p:sp>
      <p:sp>
        <p:nvSpPr>
          <p:cNvPr id="85" name="Shape 83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 CHECK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합계와 손으로 더한 값이 같은지 대조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돌아보기 화면은 완료일이 아니라 마감일로 거른다. 5일치 마감일이 8/31~9/4 라 기간을 9/4 까지 잡아야 5건이 모두 잡힌다.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6675120" cy="4343400"/>
          </a:xfrm>
          <a:prstGeom prst="roundRect">
            <a:avLst>
              <a:gd name="adj" fmla="val 1684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7" name="Image 0" descr="C:\Users\stuls\Desktop\Agent\plan-do-see-diary\docs\과제7\evidence\T07-A17-five-day-totals-hand-check-p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158" y="1856232"/>
            <a:ext cx="6188659" cy="3867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97296"/>
            <a:ext cx="6492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T07-A17 · 공개 배포 돌아보기 (기간 2026.08.29–2026.09.04)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452360" y="1783080"/>
            <a:ext cx="4133088" cy="434340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662672" y="1965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계산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662672" y="2286000"/>
            <a:ext cx="37124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= 3 + 62 + 4 + 4 + 8 = 81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= 4 + 4 + 4 + 4 + 4 = 20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 = 20 − 81 = −61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662672" y="3200400"/>
            <a:ext cx="1517904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17536" y="3227832"/>
            <a:ext cx="1408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180576" y="3200400"/>
            <a:ext cx="109728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235440" y="322783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10277856" y="3200400"/>
            <a:ext cx="109728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332720" y="322783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662672" y="3602736"/>
            <a:ext cx="1517904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3621024"/>
            <a:ext cx="1389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분 합</a:t>
            </a:r>
            <a:endParaRPr lang="en-US" sz="980" dirty="0"/>
          </a:p>
        </p:txBody>
      </p:sp>
      <p:sp>
        <p:nvSpPr>
          <p:cNvPr id="20" name="Shape 17"/>
          <p:cNvSpPr/>
          <p:nvPr/>
        </p:nvSpPr>
        <p:spPr>
          <a:xfrm>
            <a:off x="9180576" y="3602736"/>
            <a:ext cx="109728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44584" y="3621024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81</a:t>
            </a:r>
            <a:endParaRPr lang="en-US" sz="980" dirty="0"/>
          </a:p>
        </p:txBody>
      </p:sp>
      <p:sp>
        <p:nvSpPr>
          <p:cNvPr id="22" name="Shape 19"/>
          <p:cNvSpPr/>
          <p:nvPr/>
        </p:nvSpPr>
        <p:spPr>
          <a:xfrm>
            <a:off x="10277856" y="3602736"/>
            <a:ext cx="109728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341864" y="3621024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81</a:t>
            </a:r>
            <a:endParaRPr lang="en-US" sz="980" dirty="0"/>
          </a:p>
        </p:txBody>
      </p:sp>
      <p:sp>
        <p:nvSpPr>
          <p:cNvPr id="24" name="Shape 21"/>
          <p:cNvSpPr/>
          <p:nvPr/>
        </p:nvSpPr>
        <p:spPr>
          <a:xfrm>
            <a:off x="7662672" y="3968496"/>
            <a:ext cx="1517904" cy="3657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726680" y="3986784"/>
            <a:ext cx="1389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분 합</a:t>
            </a:r>
            <a:endParaRPr lang="en-US" sz="980" dirty="0"/>
          </a:p>
        </p:txBody>
      </p:sp>
      <p:sp>
        <p:nvSpPr>
          <p:cNvPr id="26" name="Shape 23"/>
          <p:cNvSpPr/>
          <p:nvPr/>
        </p:nvSpPr>
        <p:spPr>
          <a:xfrm>
            <a:off x="9180576" y="3968496"/>
            <a:ext cx="1097280" cy="3657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244584" y="3986784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80" dirty="0"/>
          </a:p>
        </p:txBody>
      </p:sp>
      <p:sp>
        <p:nvSpPr>
          <p:cNvPr id="28" name="Shape 25"/>
          <p:cNvSpPr/>
          <p:nvPr/>
        </p:nvSpPr>
        <p:spPr>
          <a:xfrm>
            <a:off x="10277856" y="3968496"/>
            <a:ext cx="1097280" cy="3657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0341864" y="3986784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80" dirty="0"/>
          </a:p>
        </p:txBody>
      </p:sp>
      <p:sp>
        <p:nvSpPr>
          <p:cNvPr id="30" name="Shape 27"/>
          <p:cNvSpPr/>
          <p:nvPr/>
        </p:nvSpPr>
        <p:spPr>
          <a:xfrm>
            <a:off x="7662672" y="4334256"/>
            <a:ext cx="1517904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726680" y="4352544"/>
            <a:ext cx="1389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980" dirty="0"/>
          </a:p>
        </p:txBody>
      </p:sp>
      <p:sp>
        <p:nvSpPr>
          <p:cNvPr id="32" name="Shape 29"/>
          <p:cNvSpPr/>
          <p:nvPr/>
        </p:nvSpPr>
        <p:spPr>
          <a:xfrm>
            <a:off x="9180576" y="4334256"/>
            <a:ext cx="109728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44584" y="4352544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-61</a:t>
            </a:r>
            <a:endParaRPr lang="en-US" sz="980" dirty="0"/>
          </a:p>
        </p:txBody>
      </p:sp>
      <p:sp>
        <p:nvSpPr>
          <p:cNvPr id="34" name="Shape 31"/>
          <p:cNvSpPr/>
          <p:nvPr/>
        </p:nvSpPr>
        <p:spPr>
          <a:xfrm>
            <a:off x="10277856" y="4334256"/>
            <a:ext cx="109728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0341864" y="4352544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-61</a:t>
            </a:r>
            <a:endParaRPr lang="en-US" sz="980" dirty="0"/>
          </a:p>
        </p:txBody>
      </p:sp>
      <p:sp>
        <p:nvSpPr>
          <p:cNvPr id="36" name="Text 33"/>
          <p:cNvSpPr/>
          <p:nvPr/>
        </p:nvSpPr>
        <p:spPr>
          <a:xfrm>
            <a:off x="7662672" y="4846320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항목 모두 일치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7662672" y="5193792"/>
            <a:ext cx="37124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오차율(-22.0%)은 이 화면에 없는 값이다.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화면은 예상·실제·차이 세 개만 보여 주므로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평균은 손 계산으로만 구했고 그 사실을 문서에 적었다.</a:t>
            </a:r>
            <a:endParaRPr lang="en-US" sz="1080" dirty="0"/>
          </a:p>
        </p:txBody>
      </p:sp>
      <p:sp>
        <p:nvSpPr>
          <p:cNvPr id="38" name="Shape 35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EVIDENCE · PUBLIC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전, 계정 없이 열리는 화면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심사자가 계정을 만들지 않고도 여기까지는 볼 수 있다 (T07-C01 / C03).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5349240" cy="2148840"/>
          </a:xfrm>
          <a:prstGeom prst="roundRect">
            <a:avLst>
              <a:gd name="adj" fmla="val 3404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7" name="Image 0" descr="C:\Users\stuls\Desktop\Agent\plan-do-see-diary\docs\과제7\evidence\T07-E01-public-entry-p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2866" y="1856232"/>
            <a:ext cx="2677363" cy="16733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3602736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T07-E01 · 공개 시작 화면 (로그인·회원가입 선택)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236208" y="1783080"/>
            <a:ext cx="5349240" cy="2148840"/>
          </a:xfrm>
          <a:prstGeom prst="roundRect">
            <a:avLst>
              <a:gd name="adj" fmla="val 3404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10" name="Image 1" descr="C:\Users\stuls\Desktop\Agent\plan-do-see-diary\docs\과제7\evidence\T07-E02-login-pc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146" y="1856232"/>
            <a:ext cx="2677363" cy="167335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327648" y="3602736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T07-E02 · 로그인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566928" y="4069080"/>
            <a:ext cx="5349240" cy="2148840"/>
          </a:xfrm>
          <a:prstGeom prst="roundRect">
            <a:avLst>
              <a:gd name="adj" fmla="val 3404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13" name="Image 2" descr="C:\Users\stuls\Desktop\Agent\plan-do-see-diary\docs\과제7\evidence\T07-E03-signup-pc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3422" y="4142232"/>
            <a:ext cx="2356252" cy="167335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8368" y="5888736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T07-E03 · 회원가입 (아이디·닉네임·이메일·비밀번호)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6236208" y="4069080"/>
            <a:ext cx="5349240" cy="2148840"/>
          </a:xfrm>
          <a:prstGeom prst="roundRect">
            <a:avLst>
              <a:gd name="adj" fmla="val 3404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16" name="Image 3" descr="C:\Users\stuls\Desktop\Agent\plan-do-see-diary\docs\과제7\evidence\T07-E04-recover-pc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6835" y="4142232"/>
            <a:ext cx="1887986" cy="167335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327648" y="5888736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T07-E04 · 아이디·비밀번호 찾기</a:t>
            </a:r>
            <a:endParaRPr lang="en-US" sz="950" dirty="0"/>
          </a:p>
        </p:txBody>
      </p:sp>
      <p:sp>
        <p:nvSpPr>
          <p:cNvPr id="18" name="Shape 12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20" name="Text 14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EVIDENCE · PLANNER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자료를 일간 · 주간 · 월간으로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로그인한 계정의 자료만 나온다. 할 일을 끌어 놓아 날짜를 바꿔도 소유자 조건이 강제된다.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3520440" cy="4343400"/>
          </a:xfrm>
          <a:prstGeom prst="roundRect">
            <a:avLst>
              <a:gd name="adj" fmla="val 2078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7" name="Image 0" descr="C:\Users\stuls\Desktop\Agent\plan-do-see-diary\docs\과제7\evidence\T07-E08-planner-day-p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31803"/>
            <a:ext cx="3374136" cy="331677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9729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T07-E08 · 일간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315968" y="1783080"/>
            <a:ext cx="3520440" cy="4343400"/>
          </a:xfrm>
          <a:prstGeom prst="roundRect">
            <a:avLst>
              <a:gd name="adj" fmla="val 2078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10" name="Image 1" descr="C:\Users\stuls\Desktop\Agent\plan-do-see-diary\docs\과제7\evidence\T07-E09-planner-week-pc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131803"/>
            <a:ext cx="3374136" cy="331677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407408" y="579729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T07-E09 · 주간 (드래그로 날짜 이동)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8065008" y="1783080"/>
            <a:ext cx="3520440" cy="4343400"/>
          </a:xfrm>
          <a:prstGeom prst="roundRect">
            <a:avLst>
              <a:gd name="adj" fmla="val 2078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13" name="Image 2" descr="C:\Users\stuls\Desktop\Agent\plan-do-see-diary\docs\과제7\evidence\T07-E10-planner-month-pc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9703" y="1856232"/>
            <a:ext cx="3131050" cy="3867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56448" y="579729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T07-E10 · 월간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EVIDENCE · RECORDS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· 할 일 · 돌아보기와 계정 화면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로그인 뒤에만 열리고, 세션의 사용자 자료만 담긴다.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7" name="Image 0" descr="C:\Users\stuls\Desktop\Agent\plan-do-see-diary\docs\과제7\evidence\T07-E11-plans-p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6001" y="1856232"/>
            <a:ext cx="1702294" cy="16733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360273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T07-E11 · 계획 목록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315968" y="178308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10" name="Image 1" descr="C:\Users\stuls\Desktop\Agent\plan-do-see-diary\docs\과제7\evidence\T07-E12-plan-detail-pc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5041" y="1856232"/>
            <a:ext cx="1702294" cy="167335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407408" y="360273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T07-E12 · 계획 상세와 수정 이력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8065008" y="178308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13" name="Image 2" descr="C:\Users\stuls\Desktop\Agent\plan-do-see-diary\docs\과제7\evidence\T07-E13-tasks-pc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4081" y="1856232"/>
            <a:ext cx="1702294" cy="167335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56448" y="360273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T07-E13 · 할 일 목록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566928" y="406908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16" name="Image 3" descr="C:\Users\stuls\Desktop\Agent\plan-do-see-diary\docs\과제7\evidence\T07-E14-task-detail-pc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887" y="4142232"/>
            <a:ext cx="1556522" cy="167335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58368" y="588873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T07-E14 · 할 일 상세와 실행 기록</a:t>
            </a:r>
            <a:endParaRPr lang="en-US" sz="950" dirty="0"/>
          </a:p>
        </p:txBody>
      </p:sp>
      <p:sp>
        <p:nvSpPr>
          <p:cNvPr id="18" name="Shape 12"/>
          <p:cNvSpPr/>
          <p:nvPr/>
        </p:nvSpPr>
        <p:spPr>
          <a:xfrm>
            <a:off x="4315968" y="406908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19" name="Image 4" descr="C:\Users\stuls\Desktop\Agent\plan-do-see-diary\docs\과제7\evidence\T07-E15-review-pc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5041" y="4142232"/>
            <a:ext cx="1702294" cy="167335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407408" y="588873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T07-E15 · 돌아보기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8065008" y="406908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22" name="Image 5" descr="C:\Users\stuls\Desktop\Agent\plan-do-see-diary\docs\과제7\evidence\T07-E16-account-pc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4280" y="4142232"/>
            <a:ext cx="1461897" cy="1673352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8156448" y="588873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T07-E16 · 계정 (비밀번호 변경·내보내기·삭제)</a:t>
            </a:r>
            <a:endParaRPr lang="en-US" sz="950" dirty="0"/>
          </a:p>
        </p:txBody>
      </p:sp>
      <p:sp>
        <p:nvSpPr>
          <p:cNvPr id="24" name="Shape 16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25" name="Text 17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26" name="Text 18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EVIDENCE · API &amp; DB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Postman 요청·응답과 실제 데이터베이스 화면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화면이 아니라 실제로 동작하는 화면만 제출 증거로 쓴다. 비밀번호·쿠키·토큰은 모두 가렸다.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7" name="Image 0" descr="C:\Users\stuls\Desktop\Agent\plan-do-see-diary\docs\과제7\evidence\T07-A10-postman-unauthenticated-401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1947" y="1856232"/>
            <a:ext cx="3370402" cy="16733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360273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T07-A10 · 미로그인 401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315968" y="178308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10" name="Image 1" descr="C:\Users\stuls\Desktop\Agent\plan-do-see-diary\docs\과제7\evidence\T07-A14-postman-after-logout-401-p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987" y="1856232"/>
            <a:ext cx="3370402" cy="167335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407408" y="360273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T07-A14 · 로그아웃 뒤 401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8065008" y="178308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13" name="Image 2" descr="C:\Users\stuls\Desktop\Agent\plan-do-see-diary\docs\과제7\evidence\T07-A22-postman-secondary-list-isolated-p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027" y="1856232"/>
            <a:ext cx="3370402" cy="167335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56448" y="360273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T07-A22 · 목록에 본인 자료만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566928" y="406908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16" name="Image 3" descr="C:\Users\stuls\Desktop\Agent\plan-do-see-diary\docs\과제7\evidence\T07-A08-auth-owner-db-summary-p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493689"/>
            <a:ext cx="3374136" cy="970437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58368" y="588873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T07-A08 · 실제 DB: bcrypt·세션 해시</a:t>
            </a:r>
            <a:endParaRPr lang="en-US" sz="950" dirty="0"/>
          </a:p>
        </p:txBody>
      </p:sp>
      <p:sp>
        <p:nvSpPr>
          <p:cNvPr id="18" name="Shape 12"/>
          <p:cNvSpPr/>
          <p:nvPr/>
        </p:nvSpPr>
        <p:spPr>
          <a:xfrm>
            <a:off x="4315968" y="406908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19" name="Image 4" descr="C:\Users\stuls\Desktop\Agent\plan-do-see-diary\docs\과제7\evidence\T07-A09-database-schema-actual-p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0448" y="4142232"/>
            <a:ext cx="3151480" cy="167335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407408" y="588873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T07-A09 · 실제 여덟 개 표 관계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8065008" y="406908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22" name="Image 5" descr="C:\Users\stuls\Desktop\Agent\plan-do-see-diary\docs\과제7\evidence\T07-A05-five-day-rule-change-actual-pc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7110" y="4142232"/>
            <a:ext cx="2676236" cy="1673352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8156448" y="588873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T07-A05 · 규칙 변경 시각과 5일 기록</a:t>
            </a:r>
            <a:endParaRPr lang="en-US" sz="950" dirty="0"/>
          </a:p>
        </p:txBody>
      </p:sp>
      <p:sp>
        <p:nvSpPr>
          <p:cNvPr id="24" name="Shape 16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25" name="Text 17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26" name="Text 18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막혔던 네 가지와 배운 것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겪지 않은 문제는 적지 않았다. 아래는 모두 이번 과제에서 실제로 발생한 것이다.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534924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1783080"/>
            <a:ext cx="64008" cy="2011680"/>
          </a:xfrm>
          <a:prstGeom prst="rect">
            <a:avLst/>
          </a:prstGeom>
          <a:solidFill>
            <a:srgbClr val="D36B55"/>
          </a:solidFill>
          <a:ln w="12700">
            <a:solidFill>
              <a:srgbClr val="D36B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94767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DDL 락으로 마이그레이션이 끝나지 않음</a:t>
            </a:r>
            <a:endParaRPr lang="en-US" sz="1280" dirty="0"/>
          </a:p>
        </p:txBody>
      </p:sp>
      <p:sp>
        <p:nvSpPr>
          <p:cNvPr id="9" name="Text 7"/>
          <p:cNvSpPr/>
          <p:nvPr/>
        </p:nvSpPr>
        <p:spPr>
          <a:xfrm>
            <a:off x="822960" y="233172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프로세스가 동시에 스키마를 적용하며 서로의 락을 기다렸다.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295351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· 적용 상태 사전 검사와 연결·락·문장 제한 시간을 걸고 한 프로세스만 실행한다.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44768" y="1783080"/>
            <a:ext cx="534924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44768" y="1783080"/>
            <a:ext cx="64008" cy="2011680"/>
          </a:xfrm>
          <a:prstGeom prst="rect">
            <a:avLst/>
          </a:prstGeom>
          <a:solidFill>
            <a:srgbClr val="D36B55"/>
          </a:solidFill>
          <a:ln w="12700">
            <a:solidFill>
              <a:srgbClr val="D36B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94767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시간대를 바꿨는데 UTC 가 계속 보임</a:t>
            </a:r>
            <a:endParaRPr lang="en-US" sz="1280" dirty="0"/>
          </a:p>
        </p:txBody>
      </p:sp>
      <p:sp>
        <p:nvSpPr>
          <p:cNvPr id="14" name="Text 12"/>
          <p:cNvSpPr/>
          <p:nvPr/>
        </p:nvSpPr>
        <p:spPr>
          <a:xfrm>
            <a:off x="6400800" y="233172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ALTER DATABASE 는 성공했지만 풀러가 기존 물리 연결을 재사용했다.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0" y="295351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· 설정·검증은 직접 연결로 하고 앱 연결에는 TimeZone 을 명시한다. timestamptz 값에 9시간을 더하지 않는다.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4023360"/>
            <a:ext cx="534924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66928" y="4023360"/>
            <a:ext cx="64008" cy="2011680"/>
          </a:xfrm>
          <a:prstGeom prst="rect">
            <a:avLst/>
          </a:prstGeom>
          <a:solidFill>
            <a:srgbClr val="D36B55"/>
          </a:solidFill>
          <a:ln w="12700">
            <a:solidFill>
              <a:srgbClr val="D36B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18795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계획인데 색이 같아짐</a:t>
            </a:r>
            <a:endParaRPr lang="en-US" sz="1280" dirty="0"/>
          </a:p>
        </p:txBody>
      </p:sp>
      <p:sp>
        <p:nvSpPr>
          <p:cNvPr id="19" name="Text 17"/>
          <p:cNvSpPr/>
          <p:nvPr/>
        </p:nvSpPr>
        <p:spPr>
          <a:xfrm>
            <a:off x="822960" y="457200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ID 를 8로 나눈 나머지로 색을 정해, 간격이 8인 계획끼리 겹쳤다.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519379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· 현재 표시 목록 순서로 팔레트를 배정해 최대 여덟 개까지 충돌을 없앴다.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44768" y="4023360"/>
            <a:ext cx="534924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144768" y="4023360"/>
            <a:ext cx="64008" cy="2011680"/>
          </a:xfrm>
          <a:prstGeom prst="rect">
            <a:avLst/>
          </a:prstGeom>
          <a:solidFill>
            <a:srgbClr val="D36B55"/>
          </a:solidFill>
          <a:ln w="12700">
            <a:solidFill>
              <a:srgbClr val="D36B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418795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제목을 눌러도 달력이 열림</a:t>
            </a:r>
            <a:endParaRPr lang="en-US" sz="1280" dirty="0"/>
          </a:p>
        </p:txBody>
      </p:sp>
      <p:sp>
        <p:nvSpPr>
          <p:cNvPr id="24" name="Text 22"/>
          <p:cNvSpPr/>
          <p:nvPr/>
        </p:nvSpPr>
        <p:spPr>
          <a:xfrm>
            <a:off x="6400800" y="457200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label 이 날짜 입력을 감싸고 있어 합성 클릭까지 showPicker() 를 실행했다.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0" y="519379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· 포인터가 실제 입력 박스에서 시작한 경우에만 달력을 연다.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DECISIONS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고르고 무엇을 버렸는가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선호가 아니라 과제의 통과 기준과 위험을 근거로 정했다.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283464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810512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01568" y="1783080"/>
            <a:ext cx="411480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56432" y="1810512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516368" y="1783080"/>
            <a:ext cx="406908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71232" y="1810512"/>
            <a:ext cx="3959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버린 대안과 이유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85416"/>
            <a:ext cx="283464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" y="2203704"/>
            <a:ext cx="270662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DB 세션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3401568" y="2185416"/>
            <a:ext cx="411480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65576" y="2203704"/>
            <a:ext cx="398678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서버가 세션을 폐기할 수 있어야 한다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7516368" y="2185416"/>
            <a:ext cx="406908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80376" y="2203704"/>
            <a:ext cx="394106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Auth.js Credentials → JWT 고정, 폐기 불가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566928" y="2676906"/>
            <a:ext cx="283464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" y="2695194"/>
            <a:ext cx="270662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bcrypt cost 12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3401568" y="2676906"/>
            <a:ext cx="411480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65576" y="2695194"/>
            <a:ext cx="398678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계정마다 소금값 자동 생성·포함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7516368" y="2676906"/>
            <a:ext cx="406908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0376" y="2695194"/>
            <a:ext cx="394106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scrypt/PBKDF2 → 소금·형식·비교를 직접 작성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566928" y="3168396"/>
            <a:ext cx="283464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186684"/>
            <a:ext cx="270662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난수 토큰 + SHA-256 저장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3401568" y="3168396"/>
            <a:ext cx="411480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65576" y="3186684"/>
            <a:ext cx="398678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가 유출돼도 세션 도용 불가</a:t>
            </a:r>
            <a:endParaRPr lang="en-US" sz="980" dirty="0"/>
          </a:p>
        </p:txBody>
      </p:sp>
      <p:sp>
        <p:nvSpPr>
          <p:cNvPr id="28" name="Shape 26"/>
          <p:cNvSpPr/>
          <p:nvPr/>
        </p:nvSpPr>
        <p:spPr>
          <a:xfrm>
            <a:off x="7516368" y="3168396"/>
            <a:ext cx="406908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80376" y="3186684"/>
            <a:ext cx="394106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JWT → 폐기 불가 + 서명키 관리 부담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566928" y="3659886"/>
            <a:ext cx="283464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" y="3678174"/>
            <a:ext cx="270662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거절은 404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3401568" y="3659886"/>
            <a:ext cx="411480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65576" y="3678174"/>
            <a:ext cx="398678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0행이 자연스럽게 404 가 된다</a:t>
            </a:r>
            <a:endParaRPr lang="en-US" sz="980" dirty="0"/>
          </a:p>
        </p:txBody>
      </p:sp>
      <p:sp>
        <p:nvSpPr>
          <p:cNvPr id="34" name="Shape 32"/>
          <p:cNvSpPr/>
          <p:nvPr/>
        </p:nvSpPr>
        <p:spPr>
          <a:xfrm>
            <a:off x="7516368" y="3659886"/>
            <a:ext cx="406908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80376" y="3678174"/>
            <a:ext cx="394106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403 → 자료의 존재를 알려 준다</a:t>
            </a:r>
            <a:endParaRPr lang="en-US" sz="980" dirty="0"/>
          </a:p>
        </p:txBody>
      </p:sp>
      <p:sp>
        <p:nvSpPr>
          <p:cNvPr id="36" name="Shape 34"/>
          <p:cNvSpPr/>
          <p:nvPr/>
        </p:nvSpPr>
        <p:spPr>
          <a:xfrm>
            <a:off x="566928" y="4151376"/>
            <a:ext cx="283464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0936" y="4169664"/>
            <a:ext cx="270662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6 DB 공유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3401568" y="4151376"/>
            <a:ext cx="411480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65576" y="4169664"/>
            <a:ext cx="398678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저장소·한 배포로 이어지므로 자료가 갈라지면 안 된다</a:t>
            </a:r>
            <a:endParaRPr lang="en-US" sz="980" dirty="0"/>
          </a:p>
        </p:txBody>
      </p:sp>
      <p:sp>
        <p:nvSpPr>
          <p:cNvPr id="40" name="Shape 38"/>
          <p:cNvSpPr/>
          <p:nvPr/>
        </p:nvSpPr>
        <p:spPr>
          <a:xfrm>
            <a:off x="7516368" y="4151376"/>
            <a:ext cx="406908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80376" y="4169664"/>
            <a:ext cx="394106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DB → 나중에 두 벌을 합쳐야 한다</a:t>
            </a:r>
            <a:endParaRPr lang="en-US" sz="980" dirty="0"/>
          </a:p>
        </p:txBody>
      </p:sp>
      <p:sp>
        <p:nvSpPr>
          <p:cNvPr id="42" name="Shape 40"/>
          <p:cNvSpPr/>
          <p:nvPr/>
        </p:nvSpPr>
        <p:spPr>
          <a:xfrm>
            <a:off x="566928" y="4642866"/>
            <a:ext cx="283464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0936" y="4661154"/>
            <a:ext cx="270662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아이디와 이메일 분리</a:t>
            </a:r>
            <a:endParaRPr lang="en-US" sz="980" dirty="0"/>
          </a:p>
        </p:txBody>
      </p:sp>
      <p:sp>
        <p:nvSpPr>
          <p:cNvPr id="44" name="Shape 42"/>
          <p:cNvSpPr/>
          <p:nvPr/>
        </p:nvSpPr>
        <p:spPr>
          <a:xfrm>
            <a:off x="3401568" y="4642866"/>
            <a:ext cx="411480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65576" y="4661154"/>
            <a:ext cx="398678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로그인은 아이디로, 표시는 닉네임으로</a:t>
            </a:r>
            <a:endParaRPr lang="en-US" sz="980" dirty="0"/>
          </a:p>
        </p:txBody>
      </p:sp>
      <p:sp>
        <p:nvSpPr>
          <p:cNvPr id="46" name="Shape 44"/>
          <p:cNvSpPr/>
          <p:nvPr/>
        </p:nvSpPr>
        <p:spPr>
          <a:xfrm>
            <a:off x="7516368" y="4642866"/>
            <a:ext cx="406908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80376" y="4661154"/>
            <a:ext cx="394106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이메일을 아이디로 → 표시 이름이 이메일로 노출</a:t>
            </a:r>
            <a:endParaRPr lang="en-US" sz="980" dirty="0"/>
          </a:p>
        </p:txBody>
      </p:sp>
      <p:sp>
        <p:nvSpPr>
          <p:cNvPr id="48" name="Shape 46"/>
          <p:cNvSpPr/>
          <p:nvPr/>
        </p:nvSpPr>
        <p:spPr>
          <a:xfrm>
            <a:off x="566928" y="5134356"/>
            <a:ext cx="283464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936" y="5152644"/>
            <a:ext cx="270662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중복확인 두 겹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3401568" y="5134356"/>
            <a:ext cx="411480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65576" y="5152644"/>
            <a:ext cx="398678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화면은 편의, 보장은 DB 유니크 인덱스</a:t>
            </a:r>
            <a:endParaRPr lang="en-US" sz="980" dirty="0"/>
          </a:p>
        </p:txBody>
      </p:sp>
      <p:sp>
        <p:nvSpPr>
          <p:cNvPr id="52" name="Shape 50"/>
          <p:cNvSpPr/>
          <p:nvPr/>
        </p:nvSpPr>
        <p:spPr>
          <a:xfrm>
            <a:off x="7516368" y="5134356"/>
            <a:ext cx="4069080" cy="49149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80376" y="5152644"/>
            <a:ext cx="394106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확인만 → 동시 가입 시 중복 통과</a:t>
            </a:r>
            <a:endParaRPr lang="en-US" sz="980" dirty="0"/>
          </a:p>
        </p:txBody>
      </p:sp>
      <p:sp>
        <p:nvSpPr>
          <p:cNvPr id="54" name="Shape 52"/>
          <p:cNvSpPr/>
          <p:nvPr/>
        </p:nvSpPr>
        <p:spPr>
          <a:xfrm>
            <a:off x="566928" y="5625846"/>
            <a:ext cx="283464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936" y="5644134"/>
            <a:ext cx="270662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MVC 계층 + DTO</a:t>
            </a:r>
            <a:endParaRPr lang="en-US" sz="980" dirty="0"/>
          </a:p>
        </p:txBody>
      </p:sp>
      <p:sp>
        <p:nvSpPr>
          <p:cNvPr id="56" name="Shape 54"/>
          <p:cNvSpPr/>
          <p:nvPr/>
        </p:nvSpPr>
        <p:spPr>
          <a:xfrm>
            <a:off x="3401568" y="5625846"/>
            <a:ext cx="411480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465576" y="5644134"/>
            <a:ext cx="398678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가 user_id 를 받으면 빠뜨릴 자리가 없다</a:t>
            </a:r>
            <a:endParaRPr lang="en-US" sz="980" dirty="0"/>
          </a:p>
        </p:txBody>
      </p:sp>
      <p:sp>
        <p:nvSpPr>
          <p:cNvPr id="58" name="Shape 56"/>
          <p:cNvSpPr/>
          <p:nvPr/>
        </p:nvSpPr>
        <p:spPr>
          <a:xfrm>
            <a:off x="7516368" y="5625846"/>
            <a:ext cx="4069080" cy="49149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580376" y="5644134"/>
            <a:ext cx="3941064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 없이 유지 → 새 라우트에서 누락 가능</a:t>
            </a:r>
            <a:endParaRPr lang="en-US" sz="980" dirty="0"/>
          </a:p>
        </p:txBody>
      </p:sp>
      <p:sp>
        <p:nvSpPr>
          <p:cNvPr id="60" name="Shape 58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JUDGMENT &amp; LIMITS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만든 것, 내가 정한 것, 그리고 남은 구멍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못 막았는지까지 적어야 이 과제가 끝난다.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667512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 내 판단 3줄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286000"/>
            <a:ext cx="6263640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1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맡긴 일 — 과제 6 코드 분석, 가입·로그인·서버 세션·사용자별 자료 차단 구현, DB 이전과 자동 검증, 문서 최신화.</a:t>
            </a:r>
            <a:endParaRPr lang="en-US" sz="1180" dirty="0"/>
          </a:p>
          <a:p>
            <a:pPr marL="177800" indent="-177800">
              <a:buSzPct val="100000"/>
              <a:buChar char="•"/>
            </a:pPr>
            <a:r>
              <a:rPr lang="en-US" sz="11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직접 판단한 일 — 과제 6을 지우지 않고 같은 저장소·배포·DB에서 이어가기로 정했고, 실제 계정 가입과 계획·할 일·실행 기록 입력은 내가 했다.</a:t>
            </a:r>
            <a:endParaRPr lang="en-US" sz="1180" dirty="0"/>
          </a:p>
          <a:p>
            <a:pPr marL="177800" indent="-177800">
              <a:buSzPct val="100000"/>
              <a:buChar char="•"/>
            </a:pPr>
            <a:r>
              <a:rPr lang="en-US" sz="11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제안을 따르지 않은 일 — 새 DB로 분리하는 대안 대신, 과제 6 자료를 보존해 내 계정으로 귀속하는 방식을 택했다.</a:t>
            </a:r>
            <a:endParaRPr lang="en-US" sz="1180" dirty="0"/>
          </a:p>
        </p:txBody>
      </p:sp>
      <p:sp>
        <p:nvSpPr>
          <p:cNvPr id="9" name="Shape 7"/>
          <p:cNvSpPr/>
          <p:nvPr/>
        </p:nvSpPr>
        <p:spPr>
          <a:xfrm>
            <a:off x="7452360" y="1783080"/>
            <a:ext cx="4133088" cy="2788920"/>
          </a:xfrm>
          <a:prstGeom prst="roundRect">
            <a:avLst>
              <a:gd name="adj" fmla="val 2623"/>
            </a:avLst>
          </a:prstGeom>
          <a:solidFill>
            <a:srgbClr val="FDF1EE"/>
          </a:solidFill>
          <a:ln w="12700">
            <a:solidFill>
              <a:srgbClr val="D36B55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662672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막은 것 (남은 제한)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662672" y="2286000"/>
            <a:ext cx="3712464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시도 횟수 제한·계정 잠금·CAPTCHA 가 없다 — 무차별 대입에 취약하다.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찾기가 등록 정보 일치 방식이다. 이메일 소유 확인과 일회용 링크가 없다.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관리자용 세션 강제 종료와 감사 로그가 없다.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4754880"/>
            <a:ext cx="11018520" cy="1371600"/>
          </a:xfrm>
          <a:prstGeom prst="roundRect">
            <a:avLst>
              <a:gd name="adj" fmla="val 5333"/>
            </a:avLst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495604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제출 범위인 가입 · 로그인 · 즉시 세션 폐기 · 사용자별 자료 차단은 구현하고 공개 배포 환경에서 검증했다.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" y="532180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규칙은 10자 이상 + 대문자·소문자·숫자·특수문자 각 1자 이상으로 두어, 시도 제한이 없는 상태에서 추측 난이도를 올렸다.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확인은 화면 검사와 DB 유니크 인덱스 두 겹으로 두어 확인과 제출 사이에 남이 먼저 가입하는 경우까지 막았다.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Plan Do See Diary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잠긴 플랜두씨 다이어리 — 과제 7 제출 보고서</dc:title>
  <dc:subject>과제 7 잠긴 플랜두씨 다이어리 제출 보고서</dc:subject>
  <dc:creator>stuls · Claude Code</dc:creator>
  <cp:lastModifiedBy>stuls · Claude Code</cp:lastModifiedBy>
  <cp:revision>1</cp:revision>
  <dcterms:created xsi:type="dcterms:W3CDTF">2026-09-03T07:06:56Z</dcterms:created>
  <dcterms:modified xsi:type="dcterms:W3CDTF">2026-09-03T07:06:56Z</dcterms:modified>
</cp:coreProperties>
</file>